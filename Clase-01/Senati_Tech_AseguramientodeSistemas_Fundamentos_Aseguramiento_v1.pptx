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30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303"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NO hay lab práctico: todavía no tienen infra. Arrancamos con el challenge (30 min) para activar lo que ya saben, y la teoría ordena sus ideas. Cierre: reparto de ISOs y tarea de montaje para la Clase 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la clase AQUÍ, antes de la teoría. Abre el archivo reto-asegura-el-servidor.excalidraw del repo, dale 'Live collaboration' y comparte el link (o un QR). 25-30 min. Clave: durante el brainstorm no corrijas, solo anima. Al cerrar, agrupa sus ideas y úsalas de entrada a la teoría: 'esto que dijiste es superficie de ataque', 'esto es CIS', 'esto es defensa en capas'.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clave: lo que verán 8 clases seguidas es siempre el mismo método aplicado a Windows, Linux, MySQL, pfSense, web y nube. Si entienden el método, dominan el módulo.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Hilo conductor de las 8 semanas. Endurecer = encoger esta superficie. Mínimo privilegio y mínima funcionalidad son los dos principios que lo logran.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30% es una cifra orientativa/típica, no un dato exacto — sirve de gancho. Lo importante: el shock de VER el número bajo de su propia VM en el laboratorio. Aclarar que la cifra real varía por sistema y benchmark.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dos principios aparecen en cada benchmark. Si los interiorizan, las recomendaciones específicas dejan de ser memorización y pasan a tener lógica.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ya sabemos QUÉ es endurecer. Ahora, CÓMO pensamos la defensa de forma estratégica.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del castillo: foso, muralla, puerta, guardias, torre. En este módulo cada clase endurece una capa distinta.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Trust es la evolución moderna: desaparece la idea de 'red interna confiable'. Muy relevante para nube (clase 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común del alumno: creer que debe 'elegir' uno. No. Son complementarios.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pedagógica: no memoricen siglas. Entiendan la jerarquía gobierno vs implementación.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ISO/NIST = el reglamento de qué debe cumplir una casa segura. CIS = el manual del maestro de obra, tornillo por tornillo. PCI = la norma extra si guardas dinero.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profundizar en cada uno hoy: 15-20 min máximo. El alumno solo necesita el mapa mental, no el detalle de cada control.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más importante de la clase para el resto del módulo.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'número objetivo'. A los alumnos técnicos les encanta tener una métrica. Ese es el gancho emocional del laboratorio.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Vender la narrativa del módulo entero: hoy medimos 'crudo', cada clase endurece, y al final demostramos el salto. Cierra el arco.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clave para el docente: CIS-CAT Lite NO cubre Windows Server, por eso el objetivo es Windows 10/11 cliente. OpenSCAP sí trae perfiles de servidor para Ubuntu.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cierra la clase. No hay lab hoy: esto es la TAREA. Explica que sin infra lista no podemos avanzar la Clase 02, así que montar las VMs es el trabajo de la semana. Reparte las ISOs al terminar.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prueba de que su infra quedó lista. Así la Clase 02 arranca midiendo, no instalando. La guía detallada de montaje está en el README del repo.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 tarea: montar las VMs y subir la captura por PR antes de la Clase 02. Repartir las ISOs. Dejar 5 min de preguntas. Recordar a los remotos que el README queda disponible.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1628"/>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A"/>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8229600" cy="274320"/>
          </a:xfrm>
          <a:prstGeom prst="rect">
            <a:avLst/>
          </a:prstGeom>
          <a:noFill/>
          <a:ln/>
        </p:spPr>
        <p:txBody>
          <a:bodyPr wrap="square" rtlCol="0" anchor="ctr"/>
          <a:lstStyle/>
          <a:p>
            <a:pPr marL="0" indent="0" algn="l">
              <a:buNone/>
            </a:pPr>
            <a:r>
              <a:rPr lang="en-US" sz="900" dirty="0">
                <a:solidFill>
                  <a:srgbClr val="60748A"/>
                </a:solidFill>
                <a:latin typeface="Calibri" pitchFamily="34" charset="0"/>
                <a:ea typeface="Calibri" pitchFamily="34" charset="-122"/>
                <a:cs typeface="Calibri" pitchFamily="34" charset="-120"/>
              </a:rPr>
              <a:t>Módulo 04 · Aseguramiento de los Sistemas</a:t>
            </a:r>
            <a:endParaRPr lang="en-US" sz="900" dirty="0"/>
          </a:p>
        </p:txBody>
      </p:sp>
      <p:sp>
        <p:nvSpPr>
          <p:cNvPr id="3" name="Text 1"/>
          <p:cNvSpPr txBox="1"/>
          <p:nvPr/>
        </p:nvSpPr>
        <p:spPr>
          <a:xfrm>
            <a:off x="10058400" y="6419088"/>
            <a:ext cx="1554480" cy="274320"/>
          </a:xfrm>
          <a:prstGeom prst="rect">
            <a:avLst/>
          </a:prstGeom>
          <a:noFill/>
          <a:ln/>
        </p:spPr>
        <p:txBody>
          <a:bodyPr wrap="square" rtlCol="0" anchor="ctr"/>
          <a:lstStyle/>
          <a:p>
            <a:pPr marL="0" indent="0" algn="r">
              <a:buNone/>
            </a:pPr>
            <a:r>
              <a:rPr lang="en-US" sz="900" b="1" dirty="0">
                <a:solidFill>
                  <a:srgbClr val="00B4D8"/>
                </a:solidFill>
                <a:latin typeface="Calibri" pitchFamily="34" charset="0"/>
                <a:ea typeface="Calibri" pitchFamily="34" charset="-122"/>
                <a:cs typeface="Calibri" pitchFamily="34" charset="-120"/>
              </a:rPr>
              <a:t>TECH SENATI</a:t>
            </a:r>
            <a:endParaRPr lang="en-US" sz="9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fecha"/>
          <p:cNvSpPr>
            <a:spLocks noGrp="1"/>
          </p:cNvSpPr>
          <p:nvPr>
            <p:ph type="dt" sz="half" idx="10"/>
          </p:nvPr>
        </p:nvSpPr>
        <p:spPr/>
        <p:txBody>
          <a:bodyPr/>
          <a:lstStyle>
            <a:lvl1pPr>
              <a:defRPr/>
            </a:lvl1pPr>
          </a:lstStyle>
          <a:p>
            <a:pPr>
              <a:defRPr/>
            </a:pPr>
            <a:fld id="{698489A5-863D-4DDA-8A38-BC1047CA157C}" type="datetimeFigureOut">
              <a:rPr lang="es-PE"/>
              <a:pPr>
                <a:defRPr/>
              </a:pPr>
              <a:t>5/10/2026</a:t>
            </a:fld>
            <a:endParaRPr lang="es-PE"/>
          </a:p>
        </p:txBody>
      </p:sp>
      <p:sp>
        <p:nvSpPr>
          <p:cNvPr id="5" name="4 Marcador de pie de página"/>
          <p:cNvSpPr>
            <a:spLocks noGrp="1"/>
          </p:cNvSpPr>
          <p:nvPr>
            <p:ph type="ftr" sz="quarter" idx="11"/>
          </p:nvPr>
        </p:nvSpPr>
        <p:spPr/>
        <p:txBody>
          <a:bodyPr/>
          <a:lstStyle>
            <a:lvl1pPr>
              <a:defRPr/>
            </a:lvl1pPr>
          </a:lstStyle>
          <a:p>
            <a:pPr>
              <a:defRPr/>
            </a:pPr>
            <a:endParaRPr lang="es-PE"/>
          </a:p>
        </p:txBody>
      </p:sp>
      <p:sp>
        <p:nvSpPr>
          <p:cNvPr id="6" name="5 Marcador de número de diapositiva"/>
          <p:cNvSpPr>
            <a:spLocks noGrp="1"/>
          </p:cNvSpPr>
          <p:nvPr>
            <p:ph type="sldNum" sz="quarter" idx="12"/>
          </p:nvPr>
        </p:nvSpPr>
        <p:spPr/>
        <p:txBody>
          <a:bodyPr/>
          <a:lstStyle>
            <a:lvl1pPr>
              <a:defRPr/>
            </a:lvl1pPr>
          </a:lstStyle>
          <a:p>
            <a:pPr>
              <a:defRPr/>
            </a:pPr>
            <a:fld id="{95DC8215-97B5-428F-8EAA-49884EA7FDEA}" type="slidenum">
              <a:rPr lang="es-PE"/>
              <a:pPr>
                <a:defRPr/>
              </a:pPr>
              <a:t>‹#›</a:t>
            </a:fld>
            <a:endParaRPr lang="es-PE"/>
          </a:p>
        </p:txBody>
      </p:sp>
      <p:pic>
        <p:nvPicPr>
          <p:cNvPr id="8" name="Imagen 7">
            <a:extLst>
              <a:ext uri="{FF2B5EF4-FFF2-40B4-BE49-F238E27FC236}">
                <a16:creationId xmlns:a16="http://schemas.microsoft.com/office/drawing/2014/main" id="{50AD788A-68E1-6045-A6BB-9075379E86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666" y="7250"/>
            <a:ext cx="12166669" cy="6843498"/>
          </a:xfrm>
          <a:prstGeom prst="rect">
            <a:avLst/>
          </a:prstGeom>
        </p:spPr>
      </p:pic>
    </p:spTree>
    <p:extLst>
      <p:ext uri="{BB962C8B-B14F-4D97-AF65-F5344CB8AC3E}">
        <p14:creationId xmlns:p14="http://schemas.microsoft.com/office/powerpoint/2010/main" val="3043016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2" cstate="print">
            <a:extLst>
              <a:ext uri="{28A0092B-C50C-407E-A947-70E740481C1C}">
                <a14:useLocalDpi xmlns:a14="http://schemas.microsoft.com/office/drawing/2010/main" val="0"/>
              </a:ext>
            </a:extLst>
          </a:blip>
          <a:srcRect l="21617"/>
          <a:stretch/>
        </p:blipFill>
        <p:spPr>
          <a:xfrm>
            <a:off x="3618827" y="31608"/>
            <a:ext cx="8555412" cy="6156000"/>
          </a:xfrm>
          <a:prstGeom prst="rect">
            <a:avLst/>
          </a:prstGeom>
        </p:spPr>
      </p:pic>
      <p:pic>
        <p:nvPicPr>
          <p:cNvPr id="9" name="Imagen 8"/>
          <p:cNvPicPr>
            <a:picLocks noChangeAspect="1"/>
          </p:cNvPicPr>
          <p:nvPr/>
        </p:nvPicPr>
        <p:blipFill rotWithShape="1">
          <a:blip r:embed="rId3" cstate="print">
            <a:extLst>
              <a:ext uri="{28A0092B-C50C-407E-A947-70E740481C1C}">
                <a14:useLocalDpi xmlns:a14="http://schemas.microsoft.com/office/drawing/2010/main" val="0"/>
              </a:ext>
            </a:extLst>
          </a:blip>
          <a:srcRect r="36998"/>
          <a:stretch/>
        </p:blipFill>
        <p:spPr>
          <a:xfrm>
            <a:off x="44245" y="29876"/>
            <a:ext cx="7632000" cy="6813846"/>
          </a:xfrm>
          <a:prstGeom prst="rect">
            <a:avLst/>
          </a:prstGeom>
        </p:spPr>
      </p:pic>
      <p:sp>
        <p:nvSpPr>
          <p:cNvPr id="5" name="Rectángulo 4"/>
          <p:cNvSpPr/>
          <p:nvPr/>
        </p:nvSpPr>
        <p:spPr>
          <a:xfrm>
            <a:off x="263352" y="3140968"/>
            <a:ext cx="5359503" cy="15359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spcBef>
                <a:spcPct val="50000"/>
              </a:spcBef>
            </a:pPr>
            <a:r>
              <a:rPr lang="es-ES" altLang="ca-ES" sz="3600" dirty="0">
                <a:solidFill>
                  <a:schemeClr val="tx1"/>
                </a:solidFill>
                <a:latin typeface="Arial Black" panose="020B0A04020102020204" pitchFamily="34" charset="0"/>
              </a:rPr>
              <a:t>Aseguramiento de Sistemas (</a:t>
            </a:r>
            <a:r>
              <a:rPr lang="es-ES" altLang="ca-ES" sz="3600" dirty="0" err="1">
                <a:solidFill>
                  <a:schemeClr val="tx1"/>
                </a:solidFill>
                <a:latin typeface="Arial Black" panose="020B0A04020102020204" pitchFamily="34" charset="0"/>
              </a:rPr>
              <a:t>Hardening</a:t>
            </a:r>
            <a:r>
              <a:rPr lang="es-ES" altLang="ca-ES" sz="3600" dirty="0">
                <a:solidFill>
                  <a:schemeClr val="tx1"/>
                </a:solidFill>
                <a:latin typeface="Arial Black" panose="020B0A04020102020204" pitchFamily="34" charset="0"/>
              </a:rPr>
              <a:t>)</a:t>
            </a:r>
          </a:p>
          <a:p>
            <a:pPr algn="ctr" eaLnBrk="1" hangingPunct="1">
              <a:spcBef>
                <a:spcPct val="50000"/>
              </a:spcBef>
            </a:pPr>
            <a:endParaRPr lang="es-ES" altLang="ca-ES" sz="3600" dirty="0">
              <a:solidFill>
                <a:schemeClr val="tx1"/>
              </a:solidFill>
              <a:latin typeface="Arial Black" panose="020B0A04020102020204" pitchFamily="34" charset="0"/>
            </a:endParaRPr>
          </a:p>
          <a:p>
            <a:pPr algn="ctr" eaLnBrk="1" hangingPunct="1">
              <a:spcBef>
                <a:spcPct val="50000"/>
              </a:spcBef>
            </a:pPr>
            <a:r>
              <a:rPr lang="es-ES" altLang="ca-ES" sz="1600" dirty="0">
                <a:solidFill>
                  <a:schemeClr val="tx1"/>
                </a:solidFill>
                <a:latin typeface="Arial Black" panose="020B0A04020102020204" pitchFamily="34" charset="0"/>
              </a:rPr>
              <a:t>Docente: Brian Dextre</a:t>
            </a:r>
          </a:p>
          <a:p>
            <a:pPr algn="ctr" eaLnBrk="1" hangingPunct="1">
              <a:spcBef>
                <a:spcPct val="50000"/>
              </a:spcBef>
            </a:pPr>
            <a:endParaRPr lang="ca-ES" altLang="ca-ES" sz="3600" b="1" dirty="0">
              <a:solidFill>
                <a:schemeClr val="tx1"/>
              </a:solidFill>
              <a:latin typeface="Arial Black" panose="020B0A04020102020204" pitchFamily="34" charset="0"/>
            </a:endParaRPr>
          </a:p>
        </p:txBody>
      </p:sp>
      <p:sp>
        <p:nvSpPr>
          <p:cNvPr id="7" name="QuadreDeText 3">
            <a:extLst>
              <a:ext uri="{FF2B5EF4-FFF2-40B4-BE49-F238E27FC236}">
                <a16:creationId xmlns:a16="http://schemas.microsoft.com/office/drawing/2014/main" id="{EE05E2F9-668D-494E-9941-D3C62F690E5D}"/>
              </a:ext>
            </a:extLst>
          </p:cNvPr>
          <p:cNvSpPr txBox="1">
            <a:spLocks noChangeArrowheads="1"/>
          </p:cNvSpPr>
          <p:nvPr/>
        </p:nvSpPr>
        <p:spPr bwMode="auto">
          <a:xfrm>
            <a:off x="593897" y="1132718"/>
            <a:ext cx="3312367"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ca-ES" altLang="ca-ES" sz="3700" b="1" dirty="0">
                <a:latin typeface="Arial Black" panose="020B0A04020102020204" pitchFamily="34" charset="0"/>
              </a:rPr>
              <a:t>Modulo 04</a:t>
            </a:r>
            <a:endParaRPr lang="ca-ES" altLang="ca-ES" sz="3700" b="1" dirty="0"/>
          </a:p>
        </p:txBody>
      </p:sp>
    </p:spTree>
    <p:extLst>
      <p:ext uri="{BB962C8B-B14F-4D97-AF65-F5344CB8AC3E}">
        <p14:creationId xmlns:p14="http://schemas.microsoft.com/office/powerpoint/2010/main" val="3592348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CLASE 01 · 06 DE OCTUBRE</a:t>
            </a:r>
            <a:endParaRPr lang="en-US" sz="1200" dirty="0"/>
          </a:p>
        </p:txBody>
      </p:sp>
      <p:sp>
        <p:nvSpPr>
          <p:cNvPr id="3" name="Text 1"/>
          <p:cNvSpPr txBox="1"/>
          <p:nvPr/>
        </p:nvSpPr>
        <p:spPr>
          <a:xfrm>
            <a:off x="548640" y="731520"/>
            <a:ext cx="10972800" cy="731520"/>
          </a:xfrm>
          <a:prstGeom prst="rect">
            <a:avLst/>
          </a:prstGeom>
          <a:noFill/>
          <a:ln/>
        </p:spPr>
        <p:txBody>
          <a:bodyPr wrap="square" rtlCol="0"/>
          <a:lstStyle/>
          <a:p>
            <a:pPr marL="0" indent="0">
              <a:buNone/>
            </a:pPr>
            <a:r>
              <a:rPr lang="en-US" sz="3400" b="1" dirty="0">
                <a:solidFill>
                  <a:srgbClr val="0A1628"/>
                </a:solidFill>
                <a:latin typeface="Calibri" pitchFamily="34" charset="0"/>
                <a:ea typeface="Calibri" pitchFamily="34" charset="-122"/>
                <a:cs typeface="Calibri" pitchFamily="34" charset="-120"/>
              </a:rPr>
              <a:t>Cómo usaremos la clase de hoy</a:t>
            </a:r>
            <a:endParaRPr lang="en-US" sz="3400" dirty="0"/>
          </a:p>
        </p:txBody>
      </p:sp>
      <p:sp>
        <p:nvSpPr>
          <p:cNvPr id="4" name="Shape 2"/>
          <p:cNvSpPr/>
          <p:nvPr/>
        </p:nvSpPr>
        <p:spPr>
          <a:xfrm>
            <a:off x="548640" y="1737360"/>
            <a:ext cx="5349240" cy="4297680"/>
          </a:xfrm>
          <a:prstGeom prst="roundRect">
            <a:avLst>
              <a:gd name="adj" fmla="val 2128"/>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548640" y="1737360"/>
            <a:ext cx="5349240" cy="1051560"/>
          </a:xfrm>
          <a:prstGeom prst="roundRect">
            <a:avLst>
              <a:gd name="adj" fmla="val 8696"/>
            </a:avLst>
          </a:prstGeom>
          <a:solidFill>
            <a:srgbClr val="00B4D8"/>
          </a:solidFill>
          <a:ln/>
        </p:spPr>
        <p:txBody>
          <a:bodyPr/>
          <a:lstStyle/>
          <a:p>
            <a:endParaRPr lang="en-US"/>
          </a:p>
        </p:txBody>
      </p:sp>
      <p:sp>
        <p:nvSpPr>
          <p:cNvPr id="6" name="Shape 4"/>
          <p:cNvSpPr/>
          <p:nvPr/>
        </p:nvSpPr>
        <p:spPr>
          <a:xfrm>
            <a:off x="548640" y="2606040"/>
            <a:ext cx="5349240" cy="182880"/>
          </a:xfrm>
          <a:prstGeom prst="rect">
            <a:avLst/>
          </a:prstGeom>
          <a:solidFill>
            <a:srgbClr val="00B4D8"/>
          </a:solidFill>
          <a:ln/>
        </p:spPr>
        <p:txBody>
          <a:bodyPr/>
          <a:lstStyle/>
          <a:p>
            <a:endParaRPr lang="en-US"/>
          </a:p>
        </p:txBody>
      </p:sp>
      <p:sp>
        <p:nvSpPr>
          <p:cNvPr id="7" name="Shape 5"/>
          <p:cNvSpPr/>
          <p:nvPr/>
        </p:nvSpPr>
        <p:spPr>
          <a:xfrm>
            <a:off x="868680" y="1984248"/>
            <a:ext cx="658368" cy="658368"/>
          </a:xfrm>
          <a:prstGeom prst="ellipse">
            <a:avLst/>
          </a:prstGeom>
          <a:solidFill>
            <a:srgbClr val="FFFFFF"/>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39856" y="2155424"/>
            <a:ext cx="316017" cy="316017"/>
          </a:xfrm>
          <a:prstGeom prst="rect">
            <a:avLst/>
          </a:prstGeom>
        </p:spPr>
      </p:pic>
      <p:sp>
        <p:nvSpPr>
          <p:cNvPr id="9" name="Text 6"/>
          <p:cNvSpPr txBox="1"/>
          <p:nvPr/>
        </p:nvSpPr>
        <p:spPr>
          <a:xfrm>
            <a:off x="1691640" y="1938528"/>
            <a:ext cx="4023360" cy="4114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Challenge de apertura</a:t>
            </a:r>
            <a:endParaRPr lang="en-US" sz="2100" dirty="0"/>
          </a:p>
        </p:txBody>
      </p:sp>
      <p:sp>
        <p:nvSpPr>
          <p:cNvPr id="10" name="Text 7"/>
          <p:cNvSpPr txBox="1"/>
          <p:nvPr/>
        </p:nvSpPr>
        <p:spPr>
          <a:xfrm>
            <a:off x="1691640" y="2331720"/>
            <a:ext cx="402336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primeros 30 min</a:t>
            </a:r>
            <a:endParaRPr lang="en-US" sz="1300" dirty="0"/>
          </a:p>
        </p:txBody>
      </p:sp>
      <p:sp>
        <p:nvSpPr>
          <p:cNvPr id="11" name="Text 8"/>
          <p:cNvSpPr txBox="1"/>
          <p:nvPr/>
        </p:nvSpPr>
        <p:spPr>
          <a:xfrm>
            <a:off x="960120" y="3063240"/>
            <a:ext cx="4572000" cy="2743200"/>
          </a:xfrm>
          <a:prstGeom prst="rect">
            <a:avLst/>
          </a:prstGeom>
          <a:noFill/>
          <a:ln/>
        </p:spPr>
        <p:txBody>
          <a:bodyPr wrap="square" rtlCol="0" anchor="t"/>
          <a:lstStyle/>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Abrimos un tablero colaborativo</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¿Cómo asegurarías un servidor?</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Sueltas tus ideas, sin miedo</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Las ordenamos entre todos</a:t>
            </a:r>
            <a:endParaRPr lang="en-US" sz="1400" dirty="0"/>
          </a:p>
        </p:txBody>
      </p:sp>
      <p:sp>
        <p:nvSpPr>
          <p:cNvPr id="12" name="Shape 9"/>
          <p:cNvSpPr/>
          <p:nvPr/>
        </p:nvSpPr>
        <p:spPr>
          <a:xfrm>
            <a:off x="6263640" y="1737360"/>
            <a:ext cx="5349240" cy="4297680"/>
          </a:xfrm>
          <a:prstGeom prst="roundRect">
            <a:avLst>
              <a:gd name="adj" fmla="val 2128"/>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3" name="Shape 10"/>
          <p:cNvSpPr/>
          <p:nvPr/>
        </p:nvSpPr>
        <p:spPr>
          <a:xfrm>
            <a:off x="6263640" y="1737360"/>
            <a:ext cx="5349240" cy="1051560"/>
          </a:xfrm>
          <a:prstGeom prst="roundRect">
            <a:avLst>
              <a:gd name="adj" fmla="val 8696"/>
            </a:avLst>
          </a:prstGeom>
          <a:solidFill>
            <a:srgbClr val="0077B6"/>
          </a:solidFill>
          <a:ln/>
        </p:spPr>
        <p:txBody>
          <a:bodyPr/>
          <a:lstStyle/>
          <a:p>
            <a:endParaRPr lang="en-US"/>
          </a:p>
        </p:txBody>
      </p:sp>
      <p:sp>
        <p:nvSpPr>
          <p:cNvPr id="14" name="Shape 11"/>
          <p:cNvSpPr/>
          <p:nvPr/>
        </p:nvSpPr>
        <p:spPr>
          <a:xfrm>
            <a:off x="6263640" y="2606040"/>
            <a:ext cx="5349240" cy="182880"/>
          </a:xfrm>
          <a:prstGeom prst="rect">
            <a:avLst/>
          </a:prstGeom>
          <a:solidFill>
            <a:srgbClr val="0077B6"/>
          </a:solidFill>
          <a:ln/>
        </p:spPr>
        <p:txBody>
          <a:bodyPr/>
          <a:lstStyle/>
          <a:p>
            <a:endParaRPr lang="en-US"/>
          </a:p>
        </p:txBody>
      </p:sp>
      <p:sp>
        <p:nvSpPr>
          <p:cNvPr id="15" name="Shape 12"/>
          <p:cNvSpPr/>
          <p:nvPr/>
        </p:nvSpPr>
        <p:spPr>
          <a:xfrm>
            <a:off x="6583680" y="1984248"/>
            <a:ext cx="658368" cy="658368"/>
          </a:xfrm>
          <a:prstGeom prst="ellipse">
            <a:avLst/>
          </a:prstGeom>
          <a:solidFill>
            <a:srgbClr val="FFFFFF"/>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754856" y="2155424"/>
            <a:ext cx="316017" cy="316017"/>
          </a:xfrm>
          <a:prstGeom prst="rect">
            <a:avLst/>
          </a:prstGeom>
        </p:spPr>
      </p:pic>
      <p:sp>
        <p:nvSpPr>
          <p:cNvPr id="17" name="Text 13"/>
          <p:cNvSpPr txBox="1"/>
          <p:nvPr/>
        </p:nvSpPr>
        <p:spPr>
          <a:xfrm>
            <a:off x="7406640" y="1938528"/>
            <a:ext cx="4023360" cy="4114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Teoría guiada</a:t>
            </a:r>
            <a:endParaRPr lang="en-US" sz="2100" dirty="0"/>
          </a:p>
        </p:txBody>
      </p:sp>
      <p:sp>
        <p:nvSpPr>
          <p:cNvPr id="18" name="Text 14"/>
          <p:cNvSpPr txBox="1"/>
          <p:nvPr/>
        </p:nvSpPr>
        <p:spPr>
          <a:xfrm>
            <a:off x="7406640" y="2331720"/>
            <a:ext cx="402336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resto de la clase</a:t>
            </a:r>
            <a:endParaRPr lang="en-US" sz="1300" dirty="0"/>
          </a:p>
        </p:txBody>
      </p:sp>
      <p:sp>
        <p:nvSpPr>
          <p:cNvPr id="19" name="Text 15"/>
          <p:cNvSpPr txBox="1"/>
          <p:nvPr/>
        </p:nvSpPr>
        <p:spPr>
          <a:xfrm>
            <a:off x="6675120" y="3063240"/>
            <a:ext cx="4572000" cy="2743200"/>
          </a:xfrm>
          <a:prstGeom prst="rect">
            <a:avLst/>
          </a:prstGeom>
          <a:noFill/>
          <a:ln/>
        </p:spPr>
        <p:txBody>
          <a:bodyPr wrap="square" rtlCol="0" anchor="t"/>
          <a:lstStyle/>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Superficie de ataque y hardening</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Defense in Depth y Zero Trust</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Marcos: ISO · NIST · CIS · PCI</a:t>
            </a:r>
            <a:endParaRPr lang="en-US" sz="1400" dirty="0"/>
          </a:p>
          <a:p>
            <a:pPr marL="190500" indent="-190500">
              <a:spcAft>
                <a:spcPts val="1000"/>
              </a:spcAft>
              <a:buSzPct val="100000"/>
              <a:buChar char="•"/>
            </a:pPr>
            <a:r>
              <a:rPr lang="en-US" sz="1400" dirty="0">
                <a:solidFill>
                  <a:srgbClr val="0A1628"/>
                </a:solidFill>
                <a:latin typeface="Calibri" pitchFamily="34" charset="0"/>
                <a:ea typeface="Calibri" pitchFamily="34" charset="-122"/>
                <a:cs typeface="Calibri" pitchFamily="34" charset="-120"/>
              </a:rPr>
              <a:t>La línea base y cómo se mide</a:t>
            </a:r>
            <a:endParaRPr lang="en-US" sz="14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778240" y="-2011680"/>
            <a:ext cx="5852160" cy="5852160"/>
          </a:xfrm>
          <a:prstGeom prst="ellipse">
            <a:avLst/>
          </a:prstGeom>
          <a:solidFill>
            <a:srgbClr val="14263F"/>
          </a:solidFill>
          <a:ln/>
        </p:spPr>
        <p:txBody>
          <a:bodyPr/>
          <a:lstStyle/>
          <a:p>
            <a:endParaRPr lang="en-US"/>
          </a:p>
        </p:txBody>
      </p:sp>
      <p:sp>
        <p:nvSpPr>
          <p:cNvPr id="3" name="Text 1"/>
          <p:cNvSpPr txBox="1"/>
          <p:nvPr/>
        </p:nvSpPr>
        <p:spPr>
          <a:xfrm>
            <a:off x="640080" y="64008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CHALLENGE DE APERTURA · 30 MIN</a:t>
            </a:r>
            <a:endParaRPr lang="en-US" sz="1200" dirty="0"/>
          </a:p>
        </p:txBody>
      </p:sp>
      <p:sp>
        <p:nvSpPr>
          <p:cNvPr id="4" name="Text 2"/>
          <p:cNvSpPr txBox="1"/>
          <p:nvPr/>
        </p:nvSpPr>
        <p:spPr>
          <a:xfrm>
            <a:off x="640080" y="1051560"/>
            <a:ext cx="10515600" cy="8229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¿Cómo asegurarías este servidor?</a:t>
            </a:r>
            <a:endParaRPr lang="en-US" sz="3600" dirty="0"/>
          </a:p>
        </p:txBody>
      </p:sp>
      <p:sp>
        <p:nvSpPr>
          <p:cNvPr id="5" name="Text 3"/>
          <p:cNvSpPr txBox="1"/>
          <p:nvPr/>
        </p:nvSpPr>
        <p:spPr>
          <a:xfrm>
            <a:off x="640080" y="1965960"/>
            <a:ext cx="6583680" cy="1097280"/>
          </a:xfrm>
          <a:prstGeom prst="rect">
            <a:avLst/>
          </a:prstGeom>
          <a:noFill/>
          <a:ln/>
        </p:spPr>
        <p:txBody>
          <a:bodyPr wrap="square" rtlCol="0" anchor="ctr"/>
          <a:lstStyle/>
          <a:p>
            <a:pPr marL="0" indent="0">
              <a:lnSpc>
                <a:spcPct val="105000"/>
              </a:lnSpc>
              <a:buNone/>
            </a:pPr>
            <a:r>
              <a:rPr lang="en-US" sz="1600" dirty="0">
                <a:solidFill>
                  <a:srgbClr val="90E0EF"/>
                </a:solidFill>
                <a:latin typeface="Calibri" pitchFamily="34" charset="0"/>
                <a:ea typeface="Calibri" pitchFamily="34" charset="-122"/>
                <a:cs typeface="Calibri" pitchFamily="34" charset="-120"/>
              </a:rPr>
              <a:t>Imagen un servidor web expuesto a internet. Pongan en el tablero TODO lo que harían para protegerlo. No hay </a:t>
            </a:r>
            <a:r>
              <a:rPr lang="en-US" sz="1600" dirty="0" err="1">
                <a:solidFill>
                  <a:srgbClr val="90E0EF"/>
                </a:solidFill>
                <a:latin typeface="Calibri" pitchFamily="34" charset="0"/>
                <a:ea typeface="Calibri" pitchFamily="34" charset="-122"/>
                <a:cs typeface="Calibri" pitchFamily="34" charset="-120"/>
              </a:rPr>
              <a:t>respuestas</a:t>
            </a:r>
            <a:r>
              <a:rPr lang="en-US" sz="1600" dirty="0">
                <a:solidFill>
                  <a:srgbClr val="90E0EF"/>
                </a:solidFill>
                <a:latin typeface="Calibri" pitchFamily="34" charset="0"/>
                <a:ea typeface="Calibri" pitchFamily="34" charset="-122"/>
                <a:cs typeface="Calibri" pitchFamily="34" charset="-120"/>
              </a:rPr>
              <a:t> malas: todo suma.</a:t>
            </a:r>
            <a:endParaRPr lang="en-US" sz="1600" dirty="0"/>
          </a:p>
        </p:txBody>
      </p:sp>
      <p:sp>
        <p:nvSpPr>
          <p:cNvPr id="6" name="Shape 4"/>
          <p:cNvSpPr/>
          <p:nvPr/>
        </p:nvSpPr>
        <p:spPr>
          <a:xfrm>
            <a:off x="640080" y="3200400"/>
            <a:ext cx="6675120" cy="777240"/>
          </a:xfrm>
          <a:prstGeom prst="roundRect">
            <a:avLst>
              <a:gd name="adj" fmla="val 9412"/>
            </a:avLst>
          </a:prstGeom>
          <a:solidFill>
            <a:srgbClr val="11203A"/>
          </a:solidFill>
          <a:ln w="12700">
            <a:solidFill>
              <a:srgbClr val="25405F"/>
            </a:solidFill>
            <a:prstDash val="solid"/>
          </a:ln>
        </p:spPr>
        <p:txBody>
          <a:bodyPr/>
          <a:lstStyle/>
          <a:p>
            <a:endParaRPr lang="en-US"/>
          </a:p>
        </p:txBody>
      </p:sp>
      <p:sp>
        <p:nvSpPr>
          <p:cNvPr id="7" name="Shape 5"/>
          <p:cNvSpPr/>
          <p:nvPr/>
        </p:nvSpPr>
        <p:spPr>
          <a:xfrm>
            <a:off x="822960" y="3328416"/>
            <a:ext cx="530352" cy="530352"/>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60852" y="3466308"/>
            <a:ext cx="254569" cy="254569"/>
          </a:xfrm>
          <a:prstGeom prst="rect">
            <a:avLst/>
          </a:prstGeom>
        </p:spPr>
      </p:pic>
      <p:sp>
        <p:nvSpPr>
          <p:cNvPr id="9" name="Text 6"/>
          <p:cNvSpPr txBox="1"/>
          <p:nvPr/>
        </p:nvSpPr>
        <p:spPr>
          <a:xfrm>
            <a:off x="1508760" y="3246120"/>
            <a:ext cx="2377440" cy="6858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Tablero compartido</a:t>
            </a:r>
            <a:endParaRPr lang="en-US" sz="1500" dirty="0"/>
          </a:p>
        </p:txBody>
      </p:sp>
      <p:sp>
        <p:nvSpPr>
          <p:cNvPr id="10" name="Text 7"/>
          <p:cNvSpPr txBox="1"/>
          <p:nvPr/>
        </p:nvSpPr>
        <p:spPr>
          <a:xfrm>
            <a:off x="3840480" y="3246120"/>
            <a:ext cx="3383280" cy="685800"/>
          </a:xfrm>
          <a:prstGeom prst="rect">
            <a:avLst/>
          </a:prstGeom>
          <a:noFill/>
          <a:ln/>
        </p:spPr>
        <p:txBody>
          <a:bodyPr wrap="square" rtlCol="0" anchor="ctr"/>
          <a:lstStyle/>
          <a:p>
            <a:pPr marL="0" indent="0">
              <a:buNone/>
            </a:pPr>
            <a:r>
              <a:rPr lang="en-US" sz="1250" dirty="0">
                <a:solidFill>
                  <a:srgbClr val="90E0EF"/>
                </a:solidFill>
                <a:latin typeface="Calibri" pitchFamily="34" charset="0"/>
                <a:ea typeface="Calibri" pitchFamily="34" charset="-122"/>
                <a:cs typeface="Calibri" pitchFamily="34" charset="-120"/>
              </a:rPr>
              <a:t>Entra al Excalidraw con el link que verás en pantalla.</a:t>
            </a:r>
            <a:endParaRPr lang="en-US" sz="1250" dirty="0"/>
          </a:p>
        </p:txBody>
      </p:sp>
      <p:sp>
        <p:nvSpPr>
          <p:cNvPr id="11" name="Shape 8"/>
          <p:cNvSpPr/>
          <p:nvPr/>
        </p:nvSpPr>
        <p:spPr>
          <a:xfrm>
            <a:off x="640080" y="4114800"/>
            <a:ext cx="6675120" cy="777240"/>
          </a:xfrm>
          <a:prstGeom prst="roundRect">
            <a:avLst>
              <a:gd name="adj" fmla="val 9412"/>
            </a:avLst>
          </a:prstGeom>
          <a:solidFill>
            <a:srgbClr val="11203A"/>
          </a:solidFill>
          <a:ln w="12700">
            <a:solidFill>
              <a:srgbClr val="25405F"/>
            </a:solidFill>
            <a:prstDash val="solid"/>
          </a:ln>
        </p:spPr>
        <p:txBody>
          <a:bodyPr/>
          <a:lstStyle/>
          <a:p>
            <a:endParaRPr lang="en-US"/>
          </a:p>
        </p:txBody>
      </p:sp>
      <p:sp>
        <p:nvSpPr>
          <p:cNvPr id="12" name="Shape 9"/>
          <p:cNvSpPr/>
          <p:nvPr/>
        </p:nvSpPr>
        <p:spPr>
          <a:xfrm>
            <a:off x="822960" y="4242816"/>
            <a:ext cx="530352" cy="530352"/>
          </a:xfrm>
          <a:prstGeom prst="ellipse">
            <a:avLst/>
          </a:prstGeom>
          <a:solidFill>
            <a:srgbClr val="00B4D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960852" y="4380708"/>
            <a:ext cx="254569" cy="254569"/>
          </a:xfrm>
          <a:prstGeom prst="rect">
            <a:avLst/>
          </a:prstGeom>
        </p:spPr>
      </p:pic>
      <p:sp>
        <p:nvSpPr>
          <p:cNvPr id="14" name="Text 10"/>
          <p:cNvSpPr txBox="1"/>
          <p:nvPr/>
        </p:nvSpPr>
        <p:spPr>
          <a:xfrm>
            <a:off x="1508760" y="4160520"/>
            <a:ext cx="2377440" cy="6858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Individual</a:t>
            </a:r>
            <a:endParaRPr lang="en-US" sz="1500" dirty="0"/>
          </a:p>
        </p:txBody>
      </p:sp>
      <p:sp>
        <p:nvSpPr>
          <p:cNvPr id="15" name="Text 11"/>
          <p:cNvSpPr txBox="1"/>
          <p:nvPr/>
        </p:nvSpPr>
        <p:spPr>
          <a:xfrm>
            <a:off x="3840480" y="4160520"/>
            <a:ext cx="3383280" cy="685800"/>
          </a:xfrm>
          <a:prstGeom prst="rect">
            <a:avLst/>
          </a:prstGeom>
          <a:noFill/>
          <a:ln/>
        </p:spPr>
        <p:txBody>
          <a:bodyPr wrap="square" rtlCol="0" anchor="ctr"/>
          <a:lstStyle/>
          <a:p>
            <a:pPr marL="0" indent="0">
              <a:buNone/>
            </a:pPr>
            <a:r>
              <a:rPr lang="en-US" sz="1250" dirty="0">
                <a:solidFill>
                  <a:srgbClr val="90E0EF"/>
                </a:solidFill>
                <a:latin typeface="Calibri" pitchFamily="34" charset="0"/>
                <a:ea typeface="Calibri" pitchFamily="34" charset="-122"/>
                <a:cs typeface="Calibri" pitchFamily="34" charset="-120"/>
              </a:rPr>
              <a:t>Cada uno suma ideas como notas dentro de las zonas.</a:t>
            </a:r>
            <a:endParaRPr lang="en-US" sz="1250" dirty="0"/>
          </a:p>
        </p:txBody>
      </p:sp>
      <p:sp>
        <p:nvSpPr>
          <p:cNvPr id="16" name="Shape 12"/>
          <p:cNvSpPr/>
          <p:nvPr/>
        </p:nvSpPr>
        <p:spPr>
          <a:xfrm>
            <a:off x="640080" y="5029200"/>
            <a:ext cx="6675120" cy="777240"/>
          </a:xfrm>
          <a:prstGeom prst="roundRect">
            <a:avLst>
              <a:gd name="adj" fmla="val 9412"/>
            </a:avLst>
          </a:prstGeom>
          <a:solidFill>
            <a:srgbClr val="11203A"/>
          </a:solidFill>
          <a:ln w="12700">
            <a:solidFill>
              <a:srgbClr val="25405F"/>
            </a:solidFill>
            <a:prstDash val="solid"/>
          </a:ln>
        </p:spPr>
        <p:txBody>
          <a:bodyPr/>
          <a:lstStyle/>
          <a:p>
            <a:endParaRPr lang="en-US"/>
          </a:p>
        </p:txBody>
      </p:sp>
      <p:sp>
        <p:nvSpPr>
          <p:cNvPr id="17" name="Shape 13"/>
          <p:cNvSpPr/>
          <p:nvPr/>
        </p:nvSpPr>
        <p:spPr>
          <a:xfrm>
            <a:off x="822960" y="5157216"/>
            <a:ext cx="530352" cy="530352"/>
          </a:xfrm>
          <a:prstGeom prst="ellipse">
            <a:avLst/>
          </a:prstGeom>
          <a:solidFill>
            <a:srgbClr val="00B4D8"/>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60852" y="5295108"/>
            <a:ext cx="254569" cy="254569"/>
          </a:xfrm>
          <a:prstGeom prst="rect">
            <a:avLst/>
          </a:prstGeom>
        </p:spPr>
      </p:pic>
      <p:sp>
        <p:nvSpPr>
          <p:cNvPr id="19" name="Text 14"/>
          <p:cNvSpPr txBox="1"/>
          <p:nvPr/>
        </p:nvSpPr>
        <p:spPr>
          <a:xfrm>
            <a:off x="1508760" y="5074920"/>
            <a:ext cx="2377440" cy="6858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30 minutos</a:t>
            </a:r>
            <a:endParaRPr lang="en-US" sz="1500" dirty="0"/>
          </a:p>
        </p:txBody>
      </p:sp>
      <p:sp>
        <p:nvSpPr>
          <p:cNvPr id="20" name="Text 15"/>
          <p:cNvSpPr txBox="1"/>
          <p:nvPr/>
        </p:nvSpPr>
        <p:spPr>
          <a:xfrm>
            <a:off x="3840480" y="5074920"/>
            <a:ext cx="3383280" cy="685800"/>
          </a:xfrm>
          <a:prstGeom prst="rect">
            <a:avLst/>
          </a:prstGeom>
          <a:noFill/>
          <a:ln/>
        </p:spPr>
        <p:txBody>
          <a:bodyPr wrap="square" rtlCol="0" anchor="ctr"/>
          <a:lstStyle/>
          <a:p>
            <a:pPr marL="0" indent="0">
              <a:buNone/>
            </a:pPr>
            <a:r>
              <a:rPr lang="en-US" sz="1250" dirty="0">
                <a:solidFill>
                  <a:srgbClr val="90E0EF"/>
                </a:solidFill>
                <a:latin typeface="Calibri" pitchFamily="34" charset="0"/>
                <a:ea typeface="Calibri" pitchFamily="34" charset="-122"/>
                <a:cs typeface="Calibri" pitchFamily="34" charset="-120"/>
              </a:rPr>
              <a:t>Luego ordenamos juntos. Gana la lista más completa.</a:t>
            </a:r>
            <a:endParaRPr lang="en-US" sz="1250" dirty="0"/>
          </a:p>
        </p:txBody>
      </p:sp>
      <p:sp>
        <p:nvSpPr>
          <p:cNvPr id="21" name="Shape 16"/>
          <p:cNvSpPr/>
          <p:nvPr/>
        </p:nvSpPr>
        <p:spPr>
          <a:xfrm>
            <a:off x="7680960" y="3200400"/>
            <a:ext cx="3886200" cy="2606040"/>
          </a:xfrm>
          <a:prstGeom prst="roundRect">
            <a:avLst>
              <a:gd name="adj" fmla="val 4211"/>
            </a:avLst>
          </a:prstGeom>
          <a:solidFill>
            <a:srgbClr val="00B4D8"/>
          </a:solidFill>
          <a:ln/>
        </p:spPr>
        <p:txBody>
          <a:bodyPr/>
          <a:lstStyle/>
          <a:p>
            <a:endParaRPr lang="en-US"/>
          </a:p>
        </p:txBody>
      </p:sp>
      <p:sp>
        <p:nvSpPr>
          <p:cNvPr id="22" name="Text 17"/>
          <p:cNvSpPr txBox="1"/>
          <p:nvPr/>
        </p:nvSpPr>
        <p:spPr>
          <a:xfrm>
            <a:off x="7955280" y="3429000"/>
            <a:ext cx="3383280" cy="320040"/>
          </a:xfrm>
          <a:prstGeom prst="rect">
            <a:avLst/>
          </a:prstGeom>
          <a:noFill/>
          <a:ln/>
        </p:spPr>
        <p:txBody>
          <a:bodyPr wrap="square" rtlCol="0" anchor="ctr"/>
          <a:lstStyle/>
          <a:p>
            <a:r>
              <a:rPr lang="en-US" sz="1200" b="1" kern="0" spc="200" dirty="0">
                <a:solidFill>
                  <a:srgbClr val="0A1628"/>
                </a:solidFill>
                <a:latin typeface="Calibri" pitchFamily="34" charset="0"/>
                <a:ea typeface="Calibri" pitchFamily="34" charset="-122"/>
                <a:cs typeface="Calibri" pitchFamily="34" charset="-120"/>
              </a:rPr>
              <a:t>Vamos al </a:t>
            </a:r>
            <a:r>
              <a:rPr lang="en-US" sz="1200" b="1" kern="0" spc="200" dirty="0" err="1">
                <a:solidFill>
                  <a:srgbClr val="0A1628"/>
                </a:solidFill>
                <a:latin typeface="Calibri" pitchFamily="34" charset="0"/>
                <a:ea typeface="Calibri" pitchFamily="34" charset="-122"/>
                <a:cs typeface="Calibri" pitchFamily="34" charset="-120"/>
              </a:rPr>
              <a:t>Excalidraw</a:t>
            </a:r>
            <a:r>
              <a:rPr lang="en-US" sz="1200" b="1" kern="0" spc="200" dirty="0">
                <a:solidFill>
                  <a:srgbClr val="0A1628"/>
                </a:solidFill>
                <a:latin typeface="Calibri" pitchFamily="34" charset="0"/>
                <a:ea typeface="Calibri" pitchFamily="34" charset="-122"/>
                <a:cs typeface="Calibri" pitchFamily="34" charset="-120"/>
              </a:rPr>
              <a:t> (https://bit.ly/4rNqiXV)</a:t>
            </a:r>
            <a:endParaRPr lang="en-US" sz="1200" dirty="0"/>
          </a:p>
        </p:txBody>
      </p:sp>
      <p:pic>
        <p:nvPicPr>
          <p:cNvPr id="26" name="Picture 25">
            <a:extLst>
              <a:ext uri="{FF2B5EF4-FFF2-40B4-BE49-F238E27FC236}">
                <a16:creationId xmlns:a16="http://schemas.microsoft.com/office/drawing/2014/main" id="{217D76B4-F7E6-978A-898D-7CDDFFF81336}"/>
              </a:ext>
            </a:extLst>
          </p:cNvPr>
          <p:cNvPicPr>
            <a:picLocks noChangeAspect="1"/>
          </p:cNvPicPr>
          <p:nvPr/>
        </p:nvPicPr>
        <p:blipFill>
          <a:blip r:embed="rId6"/>
          <a:stretch>
            <a:fillRect/>
          </a:stretch>
        </p:blipFill>
        <p:spPr>
          <a:xfrm>
            <a:off x="8686800" y="4242816"/>
            <a:ext cx="2159111" cy="19114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EL PROBLEMA</a:t>
            </a:r>
            <a:endParaRPr lang="en-US" sz="1200" dirty="0"/>
          </a:p>
        </p:txBody>
      </p:sp>
      <p:sp>
        <p:nvSpPr>
          <p:cNvPr id="3" name="Text 1"/>
          <p:cNvSpPr txBox="1"/>
          <p:nvPr/>
        </p:nvSpPr>
        <p:spPr>
          <a:xfrm>
            <a:off x="548640" y="731520"/>
            <a:ext cx="1106424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Aseguramiento = reducir lo que se puede atacar</a:t>
            </a:r>
            <a:endParaRPr lang="en-US" sz="3200" dirty="0"/>
          </a:p>
        </p:txBody>
      </p:sp>
      <p:sp>
        <p:nvSpPr>
          <p:cNvPr id="4" name="Shape 2"/>
          <p:cNvSpPr/>
          <p:nvPr/>
        </p:nvSpPr>
        <p:spPr>
          <a:xfrm>
            <a:off x="548640" y="1783080"/>
            <a:ext cx="5577840" cy="4206240"/>
          </a:xfrm>
          <a:prstGeom prst="roundRect">
            <a:avLst>
              <a:gd name="adj" fmla="val 2174"/>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868680" y="2103120"/>
            <a:ext cx="868680" cy="868680"/>
          </a:xfrm>
          <a:prstGeom prst="ellipse">
            <a:avLst/>
          </a:prstGeom>
          <a:solidFill>
            <a:srgbClr val="00B4D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4537" y="2328977"/>
            <a:ext cx="416966" cy="416966"/>
          </a:xfrm>
          <a:prstGeom prst="rect">
            <a:avLst/>
          </a:prstGeom>
        </p:spPr>
      </p:pic>
      <p:sp>
        <p:nvSpPr>
          <p:cNvPr id="7" name="Text 4"/>
          <p:cNvSpPr txBox="1"/>
          <p:nvPr/>
        </p:nvSpPr>
        <p:spPr>
          <a:xfrm>
            <a:off x="1920240" y="2240280"/>
            <a:ext cx="4023360" cy="457200"/>
          </a:xfrm>
          <a:prstGeom prst="rect">
            <a:avLst/>
          </a:prstGeom>
          <a:noFill/>
          <a:ln/>
        </p:spPr>
        <p:txBody>
          <a:bodyPr wrap="square" rtlCol="0" anchor="ctr"/>
          <a:lstStyle/>
          <a:p>
            <a:pPr marL="0" indent="0">
              <a:buNone/>
            </a:pPr>
            <a:r>
              <a:rPr lang="en-US" sz="2200" b="1" dirty="0">
                <a:solidFill>
                  <a:srgbClr val="0A1628"/>
                </a:solidFill>
                <a:latin typeface="Calibri" pitchFamily="34" charset="0"/>
                <a:ea typeface="Calibri" pitchFamily="34" charset="-122"/>
                <a:cs typeface="Calibri" pitchFamily="34" charset="-120"/>
              </a:rPr>
              <a:t>Hardening</a:t>
            </a:r>
            <a:endParaRPr lang="en-US" sz="2200" dirty="0"/>
          </a:p>
        </p:txBody>
      </p:sp>
      <p:sp>
        <p:nvSpPr>
          <p:cNvPr id="8" name="Text 5"/>
          <p:cNvSpPr txBox="1"/>
          <p:nvPr/>
        </p:nvSpPr>
        <p:spPr>
          <a:xfrm>
            <a:off x="868680" y="3200400"/>
            <a:ext cx="4937760" cy="1005840"/>
          </a:xfrm>
          <a:prstGeom prst="rect">
            <a:avLst/>
          </a:prstGeom>
          <a:noFill/>
          <a:ln/>
        </p:spPr>
        <p:txBody>
          <a:bodyPr wrap="square" rtlCol="0" anchor="ctr"/>
          <a:lstStyle/>
          <a:p>
            <a:pPr marL="0" indent="0">
              <a:buNone/>
            </a:pPr>
            <a:r>
              <a:rPr lang="en-US" sz="1500" dirty="0">
                <a:solidFill>
                  <a:srgbClr val="33465A"/>
                </a:solidFill>
                <a:latin typeface="Calibri" pitchFamily="34" charset="0"/>
                <a:ea typeface="Calibri" pitchFamily="34" charset="-122"/>
                <a:cs typeface="Calibri" pitchFamily="34" charset="-120"/>
              </a:rPr>
              <a:t>El proceso de configurar un sistema para reducir su superficie de ataque, dejando activo solo lo necesario y protegido lo que queda.</a:t>
            </a:r>
            <a:endParaRPr lang="en-US" sz="1500" dirty="0"/>
          </a:p>
        </p:txBody>
      </p:sp>
      <p:sp>
        <p:nvSpPr>
          <p:cNvPr id="9" name="Text 6"/>
          <p:cNvSpPr txBox="1"/>
          <p:nvPr/>
        </p:nvSpPr>
        <p:spPr>
          <a:xfrm>
            <a:off x="868680" y="4343400"/>
            <a:ext cx="4937760" cy="1280160"/>
          </a:xfrm>
          <a:prstGeom prst="rect">
            <a:avLst/>
          </a:prstGeom>
          <a:noFill/>
          <a:ln/>
        </p:spPr>
        <p:txBody>
          <a:bodyPr wrap="square" rtlCol="0" anchor="ctr"/>
          <a:lstStyle/>
          <a:p>
            <a:pPr marL="0" indent="0">
              <a:lnSpc>
                <a:spcPct val="105000"/>
              </a:lnSpc>
              <a:buNone/>
            </a:pPr>
            <a:r>
              <a:rPr lang="en-US" sz="1500" dirty="0">
                <a:solidFill>
                  <a:srgbClr val="0A1628"/>
                </a:solidFill>
                <a:latin typeface="Calibri" pitchFamily="34" charset="0"/>
                <a:ea typeface="Calibri" pitchFamily="34" charset="-122"/>
                <a:cs typeface="Calibri" pitchFamily="34" charset="-120"/>
              </a:rPr>
              <a:t>No es </a:t>
            </a:r>
            <a:r>
              <a:rPr lang="en-US" sz="1500" i="1" dirty="0">
                <a:solidFill>
                  <a:srgbClr val="60748A"/>
                </a:solidFill>
                <a:latin typeface="Calibri" pitchFamily="34" charset="0"/>
                <a:ea typeface="Calibri" pitchFamily="34" charset="-122"/>
                <a:cs typeface="Calibri" pitchFamily="34" charset="-120"/>
              </a:rPr>
              <a:t>instalar un antivirus y listo</a:t>
            </a:r>
            <a:r>
              <a:rPr lang="en-US" sz="1500" dirty="0">
                <a:solidFill>
                  <a:srgbClr val="0A1628"/>
                </a:solidFill>
                <a:latin typeface="Calibri" pitchFamily="34" charset="0"/>
                <a:ea typeface="Calibri" pitchFamily="34" charset="-122"/>
                <a:cs typeface="Calibri" pitchFamily="34" charset="-120"/>
              </a:rPr>
              <a:t>.</a:t>
            </a:r>
            <a:endParaRPr lang="en-US" sz="1500" dirty="0"/>
          </a:p>
          <a:p>
            <a:pPr marL="0" indent="0">
              <a:lnSpc>
                <a:spcPct val="105000"/>
              </a:lnSpc>
              <a:buNone/>
            </a:pPr>
            <a:r>
              <a:rPr lang="en-US" sz="1500" dirty="0">
                <a:solidFill>
                  <a:srgbClr val="0A1628"/>
                </a:solidFill>
                <a:latin typeface="Calibri" pitchFamily="34" charset="0"/>
                <a:ea typeface="Calibri" pitchFamily="34" charset="-122"/>
                <a:cs typeface="Calibri" pitchFamily="34" charset="-120"/>
              </a:rPr>
              <a:t>Es un método repetible que aplicaremos a cada tecnología del módulo.</a:t>
            </a:r>
            <a:endParaRPr lang="en-US" sz="1500" dirty="0"/>
          </a:p>
        </p:txBody>
      </p:sp>
      <p:sp>
        <p:nvSpPr>
          <p:cNvPr id="10" name="Text 7"/>
          <p:cNvSpPr txBox="1"/>
          <p:nvPr/>
        </p:nvSpPr>
        <p:spPr>
          <a:xfrm>
            <a:off x="6446520" y="1828800"/>
            <a:ext cx="5120640" cy="365760"/>
          </a:xfrm>
          <a:prstGeom prst="rect">
            <a:avLst/>
          </a:prstGeom>
          <a:noFill/>
          <a:ln/>
        </p:spPr>
        <p:txBody>
          <a:bodyPr wrap="square" rtlCol="0" anchor="ctr"/>
          <a:lstStyle/>
          <a:p>
            <a:pPr marL="0" indent="0">
              <a:buNone/>
            </a:pPr>
            <a:r>
              <a:rPr lang="en-US" sz="1500" b="1" dirty="0">
                <a:solidFill>
                  <a:srgbClr val="0077B6"/>
                </a:solidFill>
                <a:latin typeface="Calibri" pitchFamily="34" charset="0"/>
                <a:ea typeface="Calibri" pitchFamily="34" charset="-122"/>
                <a:cs typeface="Calibri" pitchFamily="34" charset="-120"/>
              </a:rPr>
              <a:t>El método, igual en todo el curso</a:t>
            </a:r>
            <a:endParaRPr lang="en-US" sz="1500" dirty="0"/>
          </a:p>
        </p:txBody>
      </p:sp>
      <p:sp>
        <p:nvSpPr>
          <p:cNvPr id="11" name="Shape 8"/>
          <p:cNvSpPr/>
          <p:nvPr/>
        </p:nvSpPr>
        <p:spPr>
          <a:xfrm>
            <a:off x="6446520" y="2331720"/>
            <a:ext cx="5120640" cy="731520"/>
          </a:xfrm>
          <a:prstGeom prst="roundRect">
            <a:avLst>
              <a:gd name="adj" fmla="val 10000"/>
            </a:avLst>
          </a:prstGeom>
          <a:solidFill>
            <a:srgbClr val="FFFFFF"/>
          </a:solidFill>
          <a:ln w="12700">
            <a:solidFill>
              <a:srgbClr val="D8E3EC"/>
            </a:solidFill>
            <a:prstDash val="solid"/>
          </a:ln>
        </p:spPr>
        <p:txBody>
          <a:bodyPr/>
          <a:lstStyle/>
          <a:p>
            <a:endParaRPr lang="en-US"/>
          </a:p>
        </p:txBody>
      </p:sp>
      <p:sp>
        <p:nvSpPr>
          <p:cNvPr id="12" name="Shape 9"/>
          <p:cNvSpPr/>
          <p:nvPr/>
        </p:nvSpPr>
        <p:spPr>
          <a:xfrm>
            <a:off x="6601968" y="2487168"/>
            <a:ext cx="420624" cy="420624"/>
          </a:xfrm>
          <a:prstGeom prst="ellipse">
            <a:avLst/>
          </a:prstGeom>
          <a:solidFill>
            <a:srgbClr val="0A1628"/>
          </a:solidFill>
          <a:ln/>
        </p:spPr>
        <p:txBody>
          <a:bodyPr/>
          <a:lstStyle/>
          <a:p>
            <a:endParaRPr lang="en-US"/>
          </a:p>
        </p:txBody>
      </p:sp>
      <p:sp>
        <p:nvSpPr>
          <p:cNvPr id="13" name="Text 10"/>
          <p:cNvSpPr txBox="1"/>
          <p:nvPr/>
        </p:nvSpPr>
        <p:spPr>
          <a:xfrm>
            <a:off x="6601968" y="2487168"/>
            <a:ext cx="420624" cy="420624"/>
          </a:xfrm>
          <a:prstGeom prst="rect">
            <a:avLst/>
          </a:prstGeom>
          <a:noFill/>
          <a:ln/>
        </p:spPr>
        <p:txBody>
          <a:bodyPr wrap="square"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1</a:t>
            </a:r>
            <a:endParaRPr lang="en-US" sz="1600" dirty="0"/>
          </a:p>
        </p:txBody>
      </p:sp>
      <p:sp>
        <p:nvSpPr>
          <p:cNvPr id="14" name="Text 11"/>
          <p:cNvSpPr txBox="1"/>
          <p:nvPr/>
        </p:nvSpPr>
        <p:spPr>
          <a:xfrm>
            <a:off x="7178040" y="2331720"/>
            <a:ext cx="4297680" cy="73152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Revisar la línea base</a:t>
            </a:r>
            <a:endParaRPr lang="en-US" sz="1500" dirty="0"/>
          </a:p>
        </p:txBody>
      </p:sp>
      <p:sp>
        <p:nvSpPr>
          <p:cNvPr id="15" name="Shape 12"/>
          <p:cNvSpPr/>
          <p:nvPr/>
        </p:nvSpPr>
        <p:spPr>
          <a:xfrm>
            <a:off x="6446520" y="3246120"/>
            <a:ext cx="5120640" cy="731520"/>
          </a:xfrm>
          <a:prstGeom prst="roundRect">
            <a:avLst>
              <a:gd name="adj" fmla="val 10000"/>
            </a:avLst>
          </a:prstGeom>
          <a:solidFill>
            <a:srgbClr val="FFFFFF"/>
          </a:solidFill>
          <a:ln w="12700">
            <a:solidFill>
              <a:srgbClr val="D8E3EC"/>
            </a:solidFill>
            <a:prstDash val="solid"/>
          </a:ln>
        </p:spPr>
        <p:txBody>
          <a:bodyPr/>
          <a:lstStyle/>
          <a:p>
            <a:endParaRPr lang="en-US"/>
          </a:p>
        </p:txBody>
      </p:sp>
      <p:sp>
        <p:nvSpPr>
          <p:cNvPr id="16" name="Shape 13"/>
          <p:cNvSpPr/>
          <p:nvPr/>
        </p:nvSpPr>
        <p:spPr>
          <a:xfrm>
            <a:off x="6601968" y="3401568"/>
            <a:ext cx="420624" cy="420624"/>
          </a:xfrm>
          <a:prstGeom prst="ellipse">
            <a:avLst/>
          </a:prstGeom>
          <a:solidFill>
            <a:srgbClr val="0A1628"/>
          </a:solidFill>
          <a:ln/>
        </p:spPr>
        <p:txBody>
          <a:bodyPr/>
          <a:lstStyle/>
          <a:p>
            <a:endParaRPr lang="en-US"/>
          </a:p>
        </p:txBody>
      </p:sp>
      <p:sp>
        <p:nvSpPr>
          <p:cNvPr id="17" name="Text 14"/>
          <p:cNvSpPr txBox="1"/>
          <p:nvPr/>
        </p:nvSpPr>
        <p:spPr>
          <a:xfrm>
            <a:off x="6601968" y="3401568"/>
            <a:ext cx="420624" cy="420624"/>
          </a:xfrm>
          <a:prstGeom prst="rect">
            <a:avLst/>
          </a:prstGeom>
          <a:noFill/>
          <a:ln/>
        </p:spPr>
        <p:txBody>
          <a:bodyPr wrap="square"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2</a:t>
            </a:r>
            <a:endParaRPr lang="en-US" sz="1600" dirty="0"/>
          </a:p>
        </p:txBody>
      </p:sp>
      <p:sp>
        <p:nvSpPr>
          <p:cNvPr id="18" name="Text 15"/>
          <p:cNvSpPr txBox="1"/>
          <p:nvPr/>
        </p:nvSpPr>
        <p:spPr>
          <a:xfrm>
            <a:off x="7178040" y="3246120"/>
            <a:ext cx="4297680" cy="73152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Gestionar cuentas y privilegios</a:t>
            </a:r>
            <a:endParaRPr lang="en-US" sz="1500" dirty="0"/>
          </a:p>
        </p:txBody>
      </p:sp>
      <p:sp>
        <p:nvSpPr>
          <p:cNvPr id="19" name="Shape 16"/>
          <p:cNvSpPr/>
          <p:nvPr/>
        </p:nvSpPr>
        <p:spPr>
          <a:xfrm>
            <a:off x="6446520" y="4160520"/>
            <a:ext cx="5120640" cy="731520"/>
          </a:xfrm>
          <a:prstGeom prst="roundRect">
            <a:avLst>
              <a:gd name="adj" fmla="val 10000"/>
            </a:avLst>
          </a:prstGeom>
          <a:solidFill>
            <a:srgbClr val="FFFFFF"/>
          </a:solidFill>
          <a:ln w="12700">
            <a:solidFill>
              <a:srgbClr val="D8E3EC"/>
            </a:solidFill>
            <a:prstDash val="solid"/>
          </a:ln>
        </p:spPr>
        <p:txBody>
          <a:bodyPr/>
          <a:lstStyle/>
          <a:p>
            <a:endParaRPr lang="en-US"/>
          </a:p>
        </p:txBody>
      </p:sp>
      <p:sp>
        <p:nvSpPr>
          <p:cNvPr id="20" name="Shape 17"/>
          <p:cNvSpPr/>
          <p:nvPr/>
        </p:nvSpPr>
        <p:spPr>
          <a:xfrm>
            <a:off x="6601968" y="4315968"/>
            <a:ext cx="420624" cy="420624"/>
          </a:xfrm>
          <a:prstGeom prst="ellipse">
            <a:avLst/>
          </a:prstGeom>
          <a:solidFill>
            <a:srgbClr val="0A1628"/>
          </a:solidFill>
          <a:ln/>
        </p:spPr>
        <p:txBody>
          <a:bodyPr/>
          <a:lstStyle/>
          <a:p>
            <a:endParaRPr lang="en-US"/>
          </a:p>
        </p:txBody>
      </p:sp>
      <p:sp>
        <p:nvSpPr>
          <p:cNvPr id="21" name="Text 18"/>
          <p:cNvSpPr txBox="1"/>
          <p:nvPr/>
        </p:nvSpPr>
        <p:spPr>
          <a:xfrm>
            <a:off x="6601968" y="4315968"/>
            <a:ext cx="420624" cy="420624"/>
          </a:xfrm>
          <a:prstGeom prst="rect">
            <a:avLst/>
          </a:prstGeom>
          <a:noFill/>
          <a:ln/>
        </p:spPr>
        <p:txBody>
          <a:bodyPr wrap="square"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7178040" y="4160520"/>
            <a:ext cx="4297680" cy="73152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Endurecer y desactivar lo inseguro</a:t>
            </a:r>
            <a:endParaRPr lang="en-US" sz="1500" dirty="0"/>
          </a:p>
        </p:txBody>
      </p:sp>
      <p:sp>
        <p:nvSpPr>
          <p:cNvPr id="23" name="Shape 20"/>
          <p:cNvSpPr/>
          <p:nvPr/>
        </p:nvSpPr>
        <p:spPr>
          <a:xfrm>
            <a:off x="6446520" y="5074920"/>
            <a:ext cx="5120640" cy="731520"/>
          </a:xfrm>
          <a:prstGeom prst="roundRect">
            <a:avLst>
              <a:gd name="adj" fmla="val 10000"/>
            </a:avLst>
          </a:prstGeom>
          <a:solidFill>
            <a:srgbClr val="FFFFFF"/>
          </a:solidFill>
          <a:ln w="12700">
            <a:solidFill>
              <a:srgbClr val="D8E3EC"/>
            </a:solidFill>
            <a:prstDash val="solid"/>
          </a:ln>
        </p:spPr>
        <p:txBody>
          <a:bodyPr/>
          <a:lstStyle/>
          <a:p>
            <a:endParaRPr lang="en-US"/>
          </a:p>
        </p:txBody>
      </p:sp>
      <p:sp>
        <p:nvSpPr>
          <p:cNvPr id="24" name="Shape 21"/>
          <p:cNvSpPr/>
          <p:nvPr/>
        </p:nvSpPr>
        <p:spPr>
          <a:xfrm>
            <a:off x="6601968" y="5230368"/>
            <a:ext cx="420624" cy="420624"/>
          </a:xfrm>
          <a:prstGeom prst="ellipse">
            <a:avLst/>
          </a:prstGeom>
          <a:solidFill>
            <a:srgbClr val="0A1628"/>
          </a:solidFill>
          <a:ln/>
        </p:spPr>
        <p:txBody>
          <a:bodyPr/>
          <a:lstStyle/>
          <a:p>
            <a:endParaRPr lang="en-US"/>
          </a:p>
        </p:txBody>
      </p:sp>
      <p:sp>
        <p:nvSpPr>
          <p:cNvPr id="25" name="Text 22"/>
          <p:cNvSpPr txBox="1"/>
          <p:nvPr/>
        </p:nvSpPr>
        <p:spPr>
          <a:xfrm>
            <a:off x="6601968" y="5230368"/>
            <a:ext cx="420624" cy="420624"/>
          </a:xfrm>
          <a:prstGeom prst="rect">
            <a:avLst/>
          </a:prstGeom>
          <a:noFill/>
          <a:ln/>
        </p:spPr>
        <p:txBody>
          <a:bodyPr wrap="square"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4</a:t>
            </a:r>
            <a:endParaRPr lang="en-US" sz="1600" dirty="0"/>
          </a:p>
        </p:txBody>
      </p:sp>
      <p:sp>
        <p:nvSpPr>
          <p:cNvPr id="26" name="Text 23"/>
          <p:cNvSpPr txBox="1"/>
          <p:nvPr/>
        </p:nvSpPr>
        <p:spPr>
          <a:xfrm>
            <a:off x="7178040" y="5074920"/>
            <a:ext cx="4297680" cy="73152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Auditar y registrar (logs)</a:t>
            </a:r>
            <a:endParaRPr lang="en-US" sz="1500" dirty="0"/>
          </a:p>
        </p:txBody>
      </p:sp>
      <p:sp>
        <p:nvSpPr>
          <p:cNvPr id="27"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CONCEPTO CENTRAL</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400" b="1" dirty="0">
                <a:solidFill>
                  <a:srgbClr val="0A1628"/>
                </a:solidFill>
                <a:latin typeface="Calibri" pitchFamily="34" charset="0"/>
                <a:ea typeface="Calibri" pitchFamily="34" charset="-122"/>
                <a:cs typeface="Calibri" pitchFamily="34" charset="-120"/>
              </a:rPr>
              <a:t>Superficie de ataque</a:t>
            </a:r>
            <a:endParaRPr lang="en-US" sz="3400" dirty="0"/>
          </a:p>
        </p:txBody>
      </p:sp>
      <p:sp>
        <p:nvSpPr>
          <p:cNvPr id="4" name="Text 2"/>
          <p:cNvSpPr txBox="1"/>
          <p:nvPr/>
        </p:nvSpPr>
        <p:spPr>
          <a:xfrm>
            <a:off x="548640" y="1508760"/>
            <a:ext cx="10972800" cy="548640"/>
          </a:xfrm>
          <a:prstGeom prst="rect">
            <a:avLst/>
          </a:prstGeom>
          <a:noFill/>
          <a:ln/>
        </p:spPr>
        <p:txBody>
          <a:bodyPr wrap="square" rtlCol="0" anchor="ctr"/>
          <a:lstStyle/>
          <a:p>
            <a:pPr marL="0" indent="0">
              <a:buNone/>
            </a:pPr>
            <a:r>
              <a:rPr lang="en-US" sz="1600" dirty="0">
                <a:solidFill>
                  <a:srgbClr val="60748A"/>
                </a:solidFill>
                <a:latin typeface="Calibri" pitchFamily="34" charset="0"/>
                <a:ea typeface="Calibri" pitchFamily="34" charset="-122"/>
                <a:cs typeface="Calibri" pitchFamily="34" charset="-120"/>
              </a:rPr>
              <a:t>Todo punto por el que un atacante podría entrar: puertos, servicios, cuentas, software y configuraciones expuestas.</a:t>
            </a:r>
            <a:endParaRPr lang="en-US" sz="1600" dirty="0"/>
          </a:p>
        </p:txBody>
      </p:sp>
      <p:sp>
        <p:nvSpPr>
          <p:cNvPr id="5" name="Shape 3"/>
          <p:cNvSpPr/>
          <p:nvPr/>
        </p:nvSpPr>
        <p:spPr>
          <a:xfrm>
            <a:off x="548640" y="2240280"/>
            <a:ext cx="5349240" cy="3657600"/>
          </a:xfrm>
          <a:prstGeom prst="roundRect">
            <a:avLst>
              <a:gd name="adj" fmla="val 2500"/>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6" name="Shape 4"/>
          <p:cNvSpPr/>
          <p:nvPr/>
        </p:nvSpPr>
        <p:spPr>
          <a:xfrm>
            <a:off x="868680" y="2514600"/>
            <a:ext cx="2194560" cy="457200"/>
          </a:xfrm>
          <a:prstGeom prst="roundRect">
            <a:avLst>
              <a:gd name="adj" fmla="val 50000"/>
            </a:avLst>
          </a:prstGeom>
          <a:solidFill>
            <a:srgbClr val="FFB703"/>
          </a:solidFill>
          <a:ln/>
        </p:spPr>
        <p:txBody>
          <a:bodyPr/>
          <a:lstStyle/>
          <a:p>
            <a:endParaRPr lang="en-US"/>
          </a:p>
        </p:txBody>
      </p:sp>
      <p:sp>
        <p:nvSpPr>
          <p:cNvPr id="7" name="Text 5"/>
          <p:cNvSpPr txBox="1"/>
          <p:nvPr/>
        </p:nvSpPr>
        <p:spPr>
          <a:xfrm>
            <a:off x="868680" y="2514600"/>
            <a:ext cx="2194560" cy="457200"/>
          </a:xfrm>
          <a:prstGeom prst="rect">
            <a:avLst/>
          </a:prstGeom>
          <a:noFill/>
          <a:ln/>
        </p:spPr>
        <p:txBody>
          <a:bodyPr wrap="square" rtlCol="0" anchor="ctr"/>
          <a:lstStyle/>
          <a:p>
            <a:pPr marL="0" indent="0" algn="ctr">
              <a:buNone/>
            </a:pPr>
            <a:r>
              <a:rPr lang="en-US" sz="1100" b="1" kern="0" spc="100" dirty="0">
                <a:solidFill>
                  <a:srgbClr val="0A1628"/>
                </a:solidFill>
                <a:latin typeface="Calibri" pitchFamily="34" charset="0"/>
                <a:ea typeface="Calibri" pitchFamily="34" charset="-122"/>
                <a:cs typeface="Calibri" pitchFamily="34" charset="-120"/>
              </a:rPr>
              <a:t>Superficie GRANDE</a:t>
            </a:r>
            <a:endParaRPr lang="en-US" sz="1100" dirty="0"/>
          </a:p>
        </p:txBody>
      </p:sp>
      <p:sp>
        <p:nvSpPr>
          <p:cNvPr id="8" name="Shape 6"/>
          <p:cNvSpPr/>
          <p:nvPr/>
        </p:nvSpPr>
        <p:spPr>
          <a:xfrm>
            <a:off x="4754880" y="2468880"/>
            <a:ext cx="731520" cy="731520"/>
          </a:xfrm>
          <a:prstGeom prst="ellipse">
            <a:avLst/>
          </a:prstGeom>
          <a:solidFill>
            <a:srgbClr val="FFB703"/>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4945075" y="2659075"/>
            <a:ext cx="351130" cy="351130"/>
          </a:xfrm>
          <a:prstGeom prst="rect">
            <a:avLst/>
          </a:prstGeom>
        </p:spPr>
      </p:pic>
      <p:sp>
        <p:nvSpPr>
          <p:cNvPr id="10" name="Text 7"/>
          <p:cNvSpPr txBox="1"/>
          <p:nvPr/>
        </p:nvSpPr>
        <p:spPr>
          <a:xfrm>
            <a:off x="868680" y="3108960"/>
            <a:ext cx="4663440" cy="457200"/>
          </a:xfrm>
          <a:prstGeom prst="rect">
            <a:avLst/>
          </a:prstGeom>
          <a:noFill/>
          <a:ln/>
        </p:spPr>
        <p:txBody>
          <a:bodyPr wrap="square" rtlCol="0" anchor="ctr"/>
          <a:lstStyle/>
          <a:p>
            <a:pPr marL="0" indent="0">
              <a:buNone/>
            </a:pPr>
            <a:r>
              <a:rPr lang="en-US" sz="1900" b="1" dirty="0">
                <a:solidFill>
                  <a:srgbClr val="0A1628"/>
                </a:solidFill>
                <a:latin typeface="Calibri" pitchFamily="34" charset="0"/>
                <a:ea typeface="Calibri" pitchFamily="34" charset="-122"/>
                <a:cs typeface="Calibri" pitchFamily="34" charset="-120"/>
              </a:rPr>
              <a:t>Sistema por defecto</a:t>
            </a:r>
            <a:endParaRPr lang="en-US" sz="1900" dirty="0"/>
          </a:p>
        </p:txBody>
      </p:sp>
      <p:sp>
        <p:nvSpPr>
          <p:cNvPr id="11" name="Text 8"/>
          <p:cNvSpPr txBox="1"/>
          <p:nvPr/>
        </p:nvSpPr>
        <p:spPr>
          <a:xfrm>
            <a:off x="914400" y="3657600"/>
            <a:ext cx="4754880" cy="2103120"/>
          </a:xfrm>
          <a:prstGeom prst="rect">
            <a:avLst/>
          </a:prstGeom>
          <a:noFill/>
          <a:ln/>
        </p:spPr>
        <p:txBody>
          <a:bodyPr wrap="square" rtlCol="0" anchor="t"/>
          <a:lstStyle/>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Servicios innecesarios encendidos</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Cuentas y contraseñas débiles</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Protocolos inseguros (SMBv1…)</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Sin auditoría ni registros</a:t>
            </a:r>
            <a:endParaRPr lang="en-US" sz="1400" dirty="0"/>
          </a:p>
        </p:txBody>
      </p:sp>
      <p:sp>
        <p:nvSpPr>
          <p:cNvPr id="12" name="Shape 9"/>
          <p:cNvSpPr/>
          <p:nvPr/>
        </p:nvSpPr>
        <p:spPr>
          <a:xfrm>
            <a:off x="6263640" y="2240280"/>
            <a:ext cx="5349240" cy="3657600"/>
          </a:xfrm>
          <a:prstGeom prst="roundRect">
            <a:avLst>
              <a:gd name="adj" fmla="val 2500"/>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3" name="Shape 10"/>
          <p:cNvSpPr/>
          <p:nvPr/>
        </p:nvSpPr>
        <p:spPr>
          <a:xfrm>
            <a:off x="6583680" y="2514600"/>
            <a:ext cx="2194560" cy="457200"/>
          </a:xfrm>
          <a:prstGeom prst="roundRect">
            <a:avLst>
              <a:gd name="adj" fmla="val 50000"/>
            </a:avLst>
          </a:prstGeom>
          <a:solidFill>
            <a:srgbClr val="2ECC71"/>
          </a:solidFill>
          <a:ln/>
        </p:spPr>
        <p:txBody>
          <a:bodyPr/>
          <a:lstStyle/>
          <a:p>
            <a:endParaRPr lang="en-US"/>
          </a:p>
        </p:txBody>
      </p:sp>
      <p:sp>
        <p:nvSpPr>
          <p:cNvPr id="14" name="Text 11"/>
          <p:cNvSpPr txBox="1"/>
          <p:nvPr/>
        </p:nvSpPr>
        <p:spPr>
          <a:xfrm>
            <a:off x="6583680" y="2514600"/>
            <a:ext cx="2194560" cy="45720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Superficie MÍNIMA</a:t>
            </a:r>
            <a:endParaRPr lang="en-US" sz="1100" dirty="0"/>
          </a:p>
        </p:txBody>
      </p:sp>
      <p:sp>
        <p:nvSpPr>
          <p:cNvPr id="15" name="Shape 12"/>
          <p:cNvSpPr/>
          <p:nvPr/>
        </p:nvSpPr>
        <p:spPr>
          <a:xfrm>
            <a:off x="10469880" y="2468880"/>
            <a:ext cx="731520" cy="731520"/>
          </a:xfrm>
          <a:prstGeom prst="ellipse">
            <a:avLst/>
          </a:prstGeom>
          <a:solidFill>
            <a:srgbClr val="2ECC7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10660075" y="2659075"/>
            <a:ext cx="351130" cy="351130"/>
          </a:xfrm>
          <a:prstGeom prst="rect">
            <a:avLst/>
          </a:prstGeom>
        </p:spPr>
      </p:pic>
      <p:sp>
        <p:nvSpPr>
          <p:cNvPr id="17" name="Text 13"/>
          <p:cNvSpPr txBox="1"/>
          <p:nvPr/>
        </p:nvSpPr>
        <p:spPr>
          <a:xfrm>
            <a:off x="6583680" y="3108960"/>
            <a:ext cx="4663440" cy="457200"/>
          </a:xfrm>
          <a:prstGeom prst="rect">
            <a:avLst/>
          </a:prstGeom>
          <a:noFill/>
          <a:ln/>
        </p:spPr>
        <p:txBody>
          <a:bodyPr wrap="square" rtlCol="0" anchor="ctr"/>
          <a:lstStyle/>
          <a:p>
            <a:pPr marL="0" indent="0">
              <a:buNone/>
            </a:pPr>
            <a:r>
              <a:rPr lang="en-US" sz="1900" b="1" dirty="0">
                <a:solidFill>
                  <a:srgbClr val="0A1628"/>
                </a:solidFill>
                <a:latin typeface="Calibri" pitchFamily="34" charset="0"/>
                <a:ea typeface="Calibri" pitchFamily="34" charset="-122"/>
                <a:cs typeface="Calibri" pitchFamily="34" charset="-120"/>
              </a:rPr>
              <a:t>Sistema endurecido</a:t>
            </a:r>
            <a:endParaRPr lang="en-US" sz="1900" dirty="0"/>
          </a:p>
        </p:txBody>
      </p:sp>
      <p:sp>
        <p:nvSpPr>
          <p:cNvPr id="18" name="Text 14"/>
          <p:cNvSpPr txBox="1"/>
          <p:nvPr/>
        </p:nvSpPr>
        <p:spPr>
          <a:xfrm>
            <a:off x="6629400" y="3657600"/>
            <a:ext cx="4754880" cy="2103120"/>
          </a:xfrm>
          <a:prstGeom prst="rect">
            <a:avLst/>
          </a:prstGeom>
          <a:noFill/>
          <a:ln/>
        </p:spPr>
        <p:txBody>
          <a:bodyPr wrap="square" rtlCol="0" anchor="t"/>
          <a:lstStyle/>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Solo lo necesario activo</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Mínimo privilegio aplicado</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Cifrado y protocolos robustos</a:t>
            </a:r>
            <a:endParaRPr lang="en-US" sz="1400" dirty="0"/>
          </a:p>
          <a:p>
            <a:pPr marL="177800" indent="-177800">
              <a:spcAft>
                <a:spcPts val="900"/>
              </a:spcAft>
              <a:buSzPct val="100000"/>
              <a:buChar char="•"/>
            </a:pPr>
            <a:r>
              <a:rPr lang="en-US" sz="1400" dirty="0">
                <a:solidFill>
                  <a:srgbClr val="0A1628"/>
                </a:solidFill>
                <a:latin typeface="Calibri" pitchFamily="34" charset="0"/>
                <a:ea typeface="Calibri" pitchFamily="34" charset="-122"/>
                <a:cs typeface="Calibri" pitchFamily="34" charset="-120"/>
              </a:rPr>
              <a:t>Logs y auditoría habilitados</a:t>
            </a:r>
            <a:endParaRPr lang="en-US" sz="14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828800" y="3200400"/>
            <a:ext cx="6400800" cy="6400800"/>
          </a:xfrm>
          <a:prstGeom prst="ellipse">
            <a:avLst/>
          </a:prstGeom>
          <a:solidFill>
            <a:srgbClr val="14263F"/>
          </a:solidFill>
          <a:ln/>
        </p:spPr>
        <p:txBody>
          <a:bodyPr/>
          <a:lstStyle/>
          <a:p>
            <a:endParaRPr lang="en-US"/>
          </a:p>
        </p:txBody>
      </p:sp>
      <p:sp>
        <p:nvSpPr>
          <p:cNvPr id="3" name="Text 1"/>
          <p:cNvSpPr txBox="1"/>
          <p:nvPr/>
        </p:nvSpPr>
        <p:spPr>
          <a:xfrm>
            <a:off x="640080" y="64008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POR QUÉ ESTO IMPORTA</a:t>
            </a:r>
            <a:endParaRPr lang="en-US" sz="1200" dirty="0"/>
          </a:p>
        </p:txBody>
      </p:sp>
      <p:sp>
        <p:nvSpPr>
          <p:cNvPr id="4" name="Text 2"/>
          <p:cNvSpPr txBox="1"/>
          <p:nvPr/>
        </p:nvSpPr>
        <p:spPr>
          <a:xfrm>
            <a:off x="640080" y="1051560"/>
            <a:ext cx="1097280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Una instalación “de fábrica” nace insegura</a:t>
            </a:r>
            <a:endParaRPr lang="en-US" sz="3200" dirty="0"/>
          </a:p>
        </p:txBody>
      </p:sp>
      <p:sp>
        <p:nvSpPr>
          <p:cNvPr id="5" name="Text 3"/>
          <p:cNvSpPr txBox="1"/>
          <p:nvPr/>
        </p:nvSpPr>
        <p:spPr>
          <a:xfrm>
            <a:off x="640080" y="2194560"/>
            <a:ext cx="5943600" cy="2377440"/>
          </a:xfrm>
          <a:prstGeom prst="rect">
            <a:avLst/>
          </a:prstGeom>
          <a:noFill/>
          <a:ln/>
        </p:spPr>
        <p:txBody>
          <a:bodyPr wrap="square" rtlCol="0" anchor="ctr"/>
          <a:lstStyle/>
          <a:p>
            <a:pPr marL="0" indent="0" algn="l">
              <a:buNone/>
            </a:pPr>
            <a:r>
              <a:rPr lang="en-US" sz="15000" b="1" dirty="0">
                <a:solidFill>
                  <a:srgbClr val="00B4D8"/>
                </a:solidFill>
                <a:latin typeface="Calibri" pitchFamily="34" charset="0"/>
                <a:ea typeface="Calibri" pitchFamily="34" charset="-122"/>
                <a:cs typeface="Calibri" pitchFamily="34" charset="-120"/>
              </a:rPr>
              <a:t>~30</a:t>
            </a:r>
            <a:r>
              <a:rPr lang="en-US" sz="8000" b="1" dirty="0">
                <a:solidFill>
                  <a:srgbClr val="90E0EF"/>
                </a:solidFill>
                <a:latin typeface="Calibri" pitchFamily="34" charset="0"/>
                <a:ea typeface="Calibri" pitchFamily="34" charset="-122"/>
                <a:cs typeface="Calibri" pitchFamily="34" charset="-120"/>
              </a:rPr>
              <a:t>%</a:t>
            </a:r>
            <a:endParaRPr lang="en-US" sz="15000" dirty="0"/>
          </a:p>
        </p:txBody>
      </p:sp>
      <p:sp>
        <p:nvSpPr>
          <p:cNvPr id="6" name="Text 4"/>
          <p:cNvSpPr txBox="1"/>
          <p:nvPr/>
        </p:nvSpPr>
        <p:spPr>
          <a:xfrm>
            <a:off x="822960" y="4572000"/>
            <a:ext cx="5486400" cy="1097280"/>
          </a:xfrm>
          <a:prstGeom prst="rect">
            <a:avLst/>
          </a:prstGeom>
          <a:noFill/>
          <a:ln/>
        </p:spPr>
        <p:txBody>
          <a:bodyPr wrap="square" rtlCol="0" anchor="ctr"/>
          <a:lstStyle/>
          <a:p>
            <a:pPr marL="0" indent="0">
              <a:buNone/>
            </a:pPr>
            <a:r>
              <a:rPr lang="en-US" sz="1700" dirty="0">
                <a:solidFill>
                  <a:srgbClr val="90E0EF"/>
                </a:solidFill>
                <a:latin typeface="Calibri" pitchFamily="34" charset="0"/>
                <a:ea typeface="Calibri" pitchFamily="34" charset="-122"/>
                <a:cs typeface="Calibri" pitchFamily="34" charset="-120"/>
              </a:rPr>
              <a:t>es el nivel de cumplimiento típico de un sistema recién instalado frente a un CIS Benchmark.</a:t>
            </a:r>
            <a:endParaRPr lang="en-US" sz="1700" dirty="0"/>
          </a:p>
        </p:txBody>
      </p:sp>
      <p:sp>
        <p:nvSpPr>
          <p:cNvPr id="7" name="Shape 5"/>
          <p:cNvSpPr/>
          <p:nvPr/>
        </p:nvSpPr>
        <p:spPr>
          <a:xfrm>
            <a:off x="6949440" y="2194560"/>
            <a:ext cx="4572000" cy="3383280"/>
          </a:xfrm>
          <a:prstGeom prst="roundRect">
            <a:avLst>
              <a:gd name="adj" fmla="val 3243"/>
            </a:avLst>
          </a:prstGeom>
          <a:solidFill>
            <a:srgbClr val="11203A"/>
          </a:solidFill>
          <a:ln w="12700">
            <a:solidFill>
              <a:srgbClr val="25405F"/>
            </a:solidFill>
            <a:prstDash val="solid"/>
          </a:ln>
        </p:spPr>
        <p:txBody>
          <a:bodyPr/>
          <a:lstStyle/>
          <a:p>
            <a:endParaRPr lang="en-US"/>
          </a:p>
        </p:txBody>
      </p:sp>
      <p:sp>
        <p:nvSpPr>
          <p:cNvPr id="8" name="Text 6"/>
          <p:cNvSpPr txBox="1"/>
          <p:nvPr/>
        </p:nvSpPr>
        <p:spPr>
          <a:xfrm>
            <a:off x="7223760" y="2423160"/>
            <a:ext cx="4023360" cy="365760"/>
          </a:xfrm>
          <a:prstGeom prst="rect">
            <a:avLst/>
          </a:prstGeom>
          <a:noFill/>
          <a:ln/>
        </p:spPr>
        <p:txBody>
          <a:bodyPr wrap="square" rtlCol="0" anchor="ctr"/>
          <a:lstStyle/>
          <a:p>
            <a:pPr marL="0" indent="0">
              <a:buNone/>
            </a:pPr>
            <a:r>
              <a:rPr lang="en-US" sz="1500" b="1" dirty="0">
                <a:solidFill>
                  <a:srgbClr val="00B4D8"/>
                </a:solidFill>
                <a:latin typeface="Calibri" pitchFamily="34" charset="0"/>
                <a:ea typeface="Calibri" pitchFamily="34" charset="-122"/>
                <a:cs typeface="Calibri" pitchFamily="34" charset="-120"/>
              </a:rPr>
              <a:t>La buena noticia</a:t>
            </a:r>
            <a:endParaRPr lang="en-US" sz="1500" dirty="0"/>
          </a:p>
        </p:txBody>
      </p:sp>
      <p:sp>
        <p:nvSpPr>
          <p:cNvPr id="9" name="Text 7"/>
          <p:cNvSpPr txBox="1"/>
          <p:nvPr/>
        </p:nvSpPr>
        <p:spPr>
          <a:xfrm>
            <a:off x="7223760" y="2880360"/>
            <a:ext cx="4069080" cy="2560320"/>
          </a:xfrm>
          <a:prstGeom prst="rect">
            <a:avLst/>
          </a:prstGeom>
          <a:noFill/>
          <a:ln/>
        </p:spPr>
        <p:txBody>
          <a:bodyPr wrap="square" rtlCol="0" anchor="ctr"/>
          <a:lstStyle/>
          <a:p>
            <a:pPr marL="0" indent="0">
              <a:lnSpc>
                <a:spcPct val="105000"/>
              </a:lnSpc>
              <a:buNone/>
            </a:pPr>
            <a:r>
              <a:rPr lang="en-US" sz="1500" dirty="0">
                <a:solidFill>
                  <a:srgbClr val="FFFFFF"/>
                </a:solidFill>
                <a:latin typeface="Calibri" pitchFamily="34" charset="0"/>
                <a:ea typeface="Calibri" pitchFamily="34" charset="-122"/>
                <a:cs typeface="Calibri" pitchFamily="34" charset="-120"/>
              </a:rPr>
              <a:t>No lo vamos a creer: lo vamos a MEDIR.</a:t>
            </a:r>
            <a:endParaRPr lang="en-US" sz="1500" dirty="0"/>
          </a:p>
          <a:p>
            <a:pPr marL="0" indent="0">
              <a:lnSpc>
                <a:spcPct val="105000"/>
              </a:lnSpc>
              <a:buNone/>
            </a:pPr>
            <a:endParaRPr lang="en-US" sz="1500" dirty="0"/>
          </a:p>
          <a:p>
            <a:pPr marL="0" indent="0">
              <a:lnSpc>
                <a:spcPct val="105000"/>
              </a:lnSpc>
              <a:buNone/>
            </a:pPr>
            <a:r>
              <a:rPr lang="en-US" sz="1500" dirty="0">
                <a:solidFill>
                  <a:srgbClr val="FFFFFF"/>
                </a:solidFill>
                <a:latin typeface="Calibri" pitchFamily="34" charset="0"/>
                <a:ea typeface="Calibri" pitchFamily="34" charset="-122"/>
                <a:cs typeface="Calibri" pitchFamily="34" charset="-120"/>
              </a:rPr>
              <a:t>En la próxima clase lo medirás tú en la tuya, y empezaremos a subirlo.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LOS DOS PRINCIPIOS QUE GUÍAN TODO</a:t>
            </a:r>
            <a:endParaRPr lang="en-US" sz="1200" dirty="0"/>
          </a:p>
        </p:txBody>
      </p:sp>
      <p:sp>
        <p:nvSpPr>
          <p:cNvPr id="3" name="Text 1"/>
          <p:cNvSpPr txBox="1"/>
          <p:nvPr/>
        </p:nvSpPr>
        <p:spPr>
          <a:xfrm>
            <a:off x="548640" y="731520"/>
            <a:ext cx="11064240" cy="731520"/>
          </a:xfrm>
          <a:prstGeom prst="rect">
            <a:avLst/>
          </a:prstGeom>
          <a:noFill/>
          <a:ln/>
        </p:spPr>
        <p:txBody>
          <a:bodyPr wrap="square" rtlCol="0" anchor="ctr"/>
          <a:lstStyle/>
          <a:p>
            <a:pPr marL="0" indent="0">
              <a:buNone/>
            </a:pPr>
            <a:r>
              <a:rPr lang="en-US" sz="3100" b="1" dirty="0">
                <a:solidFill>
                  <a:srgbClr val="0A1628"/>
                </a:solidFill>
                <a:latin typeface="Calibri" pitchFamily="34" charset="0"/>
                <a:ea typeface="Calibri" pitchFamily="34" charset="-122"/>
                <a:cs typeface="Calibri" pitchFamily="34" charset="-120"/>
              </a:rPr>
              <a:t>Mínimo privilegio y mínima funcionalidad</a:t>
            </a:r>
            <a:endParaRPr lang="en-US" sz="3100" dirty="0"/>
          </a:p>
        </p:txBody>
      </p:sp>
      <p:sp>
        <p:nvSpPr>
          <p:cNvPr id="4" name="Shape 2"/>
          <p:cNvSpPr/>
          <p:nvPr/>
        </p:nvSpPr>
        <p:spPr>
          <a:xfrm>
            <a:off x="548640" y="1828800"/>
            <a:ext cx="5349240" cy="4023360"/>
          </a:xfrm>
          <a:prstGeom prst="roundRect">
            <a:avLst>
              <a:gd name="adj" fmla="val 2273"/>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914400" y="2194560"/>
            <a:ext cx="914400" cy="914400"/>
          </a:xfrm>
          <a:prstGeom prst="ellipse">
            <a:avLst/>
          </a:prstGeom>
          <a:solidFill>
            <a:srgbClr val="00B4D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52144" y="2432304"/>
            <a:ext cx="438912" cy="438912"/>
          </a:xfrm>
          <a:prstGeom prst="rect">
            <a:avLst/>
          </a:prstGeom>
        </p:spPr>
      </p:pic>
      <p:sp>
        <p:nvSpPr>
          <p:cNvPr id="7" name="Text 4"/>
          <p:cNvSpPr txBox="1"/>
          <p:nvPr/>
        </p:nvSpPr>
        <p:spPr>
          <a:xfrm>
            <a:off x="2011680" y="2331720"/>
            <a:ext cx="3749040" cy="640080"/>
          </a:xfrm>
          <a:prstGeom prst="rect">
            <a:avLst/>
          </a:prstGeom>
          <a:noFill/>
          <a:ln/>
        </p:spPr>
        <p:txBody>
          <a:bodyPr wrap="square" rtlCol="0" anchor="ctr"/>
          <a:lstStyle/>
          <a:p>
            <a:pPr marL="0" indent="0">
              <a:buNone/>
            </a:pPr>
            <a:r>
              <a:rPr lang="en-US" sz="2100" b="1" dirty="0">
                <a:solidFill>
                  <a:srgbClr val="0A1628"/>
                </a:solidFill>
                <a:latin typeface="Calibri" pitchFamily="34" charset="0"/>
                <a:ea typeface="Calibri" pitchFamily="34" charset="-122"/>
                <a:cs typeface="Calibri" pitchFamily="34" charset="-120"/>
              </a:rPr>
              <a:t>Mínimo privilegio</a:t>
            </a:r>
            <a:endParaRPr lang="en-US" sz="2100" dirty="0"/>
          </a:p>
        </p:txBody>
      </p:sp>
      <p:sp>
        <p:nvSpPr>
          <p:cNvPr id="8" name="Text 5"/>
          <p:cNvSpPr txBox="1"/>
          <p:nvPr/>
        </p:nvSpPr>
        <p:spPr>
          <a:xfrm>
            <a:off x="960120" y="3337560"/>
            <a:ext cx="4663440" cy="1188720"/>
          </a:xfrm>
          <a:prstGeom prst="rect">
            <a:avLst/>
          </a:prstGeom>
          <a:noFill/>
          <a:ln/>
        </p:spPr>
        <p:txBody>
          <a:bodyPr wrap="square" rtlCol="0" anchor="ctr"/>
          <a:lstStyle/>
          <a:p>
            <a:pPr marL="0" indent="0">
              <a:lnSpc>
                <a:spcPct val="105000"/>
              </a:lnSpc>
              <a:buNone/>
            </a:pPr>
            <a:r>
              <a:rPr lang="en-US" sz="1500" dirty="0">
                <a:solidFill>
                  <a:srgbClr val="33465A"/>
                </a:solidFill>
                <a:latin typeface="Calibri" pitchFamily="34" charset="0"/>
                <a:ea typeface="Calibri" pitchFamily="34" charset="-122"/>
                <a:cs typeface="Calibri" pitchFamily="34" charset="-120"/>
              </a:rPr>
              <a:t>Cada usuario, servicio o proceso recibe solo los permisos que necesita para su función. Nada más.</a:t>
            </a:r>
            <a:endParaRPr lang="en-US" sz="1500" dirty="0"/>
          </a:p>
        </p:txBody>
      </p:sp>
      <p:sp>
        <p:nvSpPr>
          <p:cNvPr id="9" name="Shape 6"/>
          <p:cNvSpPr/>
          <p:nvPr/>
        </p:nvSpPr>
        <p:spPr>
          <a:xfrm>
            <a:off x="960120" y="4663440"/>
            <a:ext cx="4663440" cy="960120"/>
          </a:xfrm>
          <a:prstGeom prst="roundRect">
            <a:avLst>
              <a:gd name="adj" fmla="val 7619"/>
            </a:avLst>
          </a:prstGeom>
          <a:solidFill>
            <a:srgbClr val="F3F7FA"/>
          </a:solidFill>
          <a:ln/>
        </p:spPr>
        <p:txBody>
          <a:bodyPr/>
          <a:lstStyle/>
          <a:p>
            <a:endParaRPr lang="en-US"/>
          </a:p>
        </p:txBody>
      </p:sp>
      <p:sp>
        <p:nvSpPr>
          <p:cNvPr id="10" name="Text 7"/>
          <p:cNvSpPr txBox="1"/>
          <p:nvPr/>
        </p:nvSpPr>
        <p:spPr>
          <a:xfrm>
            <a:off x="1143000" y="4663440"/>
            <a:ext cx="4343400" cy="960120"/>
          </a:xfrm>
          <a:prstGeom prst="rect">
            <a:avLst/>
          </a:prstGeom>
          <a:noFill/>
          <a:ln/>
        </p:spPr>
        <p:txBody>
          <a:bodyPr wrap="square" rtlCol="0" anchor="ctr"/>
          <a:lstStyle/>
          <a:p>
            <a:pPr marL="0" indent="0">
              <a:buNone/>
            </a:pPr>
            <a:r>
              <a:rPr lang="en-US" sz="1300" i="1" dirty="0">
                <a:solidFill>
                  <a:srgbClr val="0077B6"/>
                </a:solidFill>
                <a:latin typeface="Calibri" pitchFamily="34" charset="0"/>
                <a:ea typeface="Calibri" pitchFamily="34" charset="-122"/>
                <a:cs typeface="Calibri" pitchFamily="34" charset="-120"/>
              </a:rPr>
              <a:t>Ej.: un operador de respaldos no debe ser administrador del dominio.</a:t>
            </a:r>
            <a:endParaRPr lang="en-US" sz="1300" dirty="0"/>
          </a:p>
        </p:txBody>
      </p:sp>
      <p:sp>
        <p:nvSpPr>
          <p:cNvPr id="11" name="Shape 8"/>
          <p:cNvSpPr/>
          <p:nvPr/>
        </p:nvSpPr>
        <p:spPr>
          <a:xfrm>
            <a:off x="6263640" y="1828800"/>
            <a:ext cx="5349240" cy="4023360"/>
          </a:xfrm>
          <a:prstGeom prst="roundRect">
            <a:avLst>
              <a:gd name="adj" fmla="val 2273"/>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2" name="Shape 9"/>
          <p:cNvSpPr/>
          <p:nvPr/>
        </p:nvSpPr>
        <p:spPr>
          <a:xfrm>
            <a:off x="6629400" y="2194560"/>
            <a:ext cx="914400" cy="914400"/>
          </a:xfrm>
          <a:prstGeom prst="ellipse">
            <a:avLst/>
          </a:prstGeom>
          <a:solidFill>
            <a:srgbClr val="00B4D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867144" y="2432304"/>
            <a:ext cx="438912" cy="438912"/>
          </a:xfrm>
          <a:prstGeom prst="rect">
            <a:avLst/>
          </a:prstGeom>
        </p:spPr>
      </p:pic>
      <p:sp>
        <p:nvSpPr>
          <p:cNvPr id="14" name="Text 10"/>
          <p:cNvSpPr txBox="1"/>
          <p:nvPr/>
        </p:nvSpPr>
        <p:spPr>
          <a:xfrm>
            <a:off x="7726680" y="2331720"/>
            <a:ext cx="3749040" cy="640080"/>
          </a:xfrm>
          <a:prstGeom prst="rect">
            <a:avLst/>
          </a:prstGeom>
          <a:noFill/>
          <a:ln/>
        </p:spPr>
        <p:txBody>
          <a:bodyPr wrap="square" rtlCol="0" anchor="ctr"/>
          <a:lstStyle/>
          <a:p>
            <a:pPr marL="0" indent="0">
              <a:buNone/>
            </a:pPr>
            <a:r>
              <a:rPr lang="en-US" sz="2100" b="1" dirty="0">
                <a:solidFill>
                  <a:srgbClr val="0A1628"/>
                </a:solidFill>
                <a:latin typeface="Calibri" pitchFamily="34" charset="0"/>
                <a:ea typeface="Calibri" pitchFamily="34" charset="-122"/>
                <a:cs typeface="Calibri" pitchFamily="34" charset="-120"/>
              </a:rPr>
              <a:t>Mínima funcionalidad</a:t>
            </a:r>
            <a:endParaRPr lang="en-US" sz="2100" dirty="0"/>
          </a:p>
        </p:txBody>
      </p:sp>
      <p:sp>
        <p:nvSpPr>
          <p:cNvPr id="15" name="Text 11"/>
          <p:cNvSpPr txBox="1"/>
          <p:nvPr/>
        </p:nvSpPr>
        <p:spPr>
          <a:xfrm>
            <a:off x="6675120" y="3337560"/>
            <a:ext cx="4663440" cy="1188720"/>
          </a:xfrm>
          <a:prstGeom prst="rect">
            <a:avLst/>
          </a:prstGeom>
          <a:noFill/>
          <a:ln/>
        </p:spPr>
        <p:txBody>
          <a:bodyPr wrap="square" rtlCol="0" anchor="ctr"/>
          <a:lstStyle/>
          <a:p>
            <a:pPr marL="0" indent="0">
              <a:lnSpc>
                <a:spcPct val="105000"/>
              </a:lnSpc>
              <a:buNone/>
            </a:pPr>
            <a:r>
              <a:rPr lang="en-US" sz="1500" dirty="0">
                <a:solidFill>
                  <a:srgbClr val="33465A"/>
                </a:solidFill>
                <a:latin typeface="Calibri" pitchFamily="34" charset="0"/>
                <a:ea typeface="Calibri" pitchFamily="34" charset="-122"/>
                <a:cs typeface="Calibri" pitchFamily="34" charset="-120"/>
              </a:rPr>
              <a:t>El sistema ejecuta solo los servicios, puertos y software estrictamente necesarios.</a:t>
            </a:r>
            <a:endParaRPr lang="en-US" sz="1500" dirty="0"/>
          </a:p>
        </p:txBody>
      </p:sp>
      <p:sp>
        <p:nvSpPr>
          <p:cNvPr id="16" name="Shape 12"/>
          <p:cNvSpPr/>
          <p:nvPr/>
        </p:nvSpPr>
        <p:spPr>
          <a:xfrm>
            <a:off x="6675120" y="4663440"/>
            <a:ext cx="4663440" cy="960120"/>
          </a:xfrm>
          <a:prstGeom prst="roundRect">
            <a:avLst>
              <a:gd name="adj" fmla="val 7619"/>
            </a:avLst>
          </a:prstGeom>
          <a:solidFill>
            <a:srgbClr val="F3F7FA"/>
          </a:solidFill>
          <a:ln/>
        </p:spPr>
        <p:txBody>
          <a:bodyPr/>
          <a:lstStyle/>
          <a:p>
            <a:endParaRPr lang="en-US"/>
          </a:p>
        </p:txBody>
      </p:sp>
      <p:sp>
        <p:nvSpPr>
          <p:cNvPr id="17" name="Text 13"/>
          <p:cNvSpPr txBox="1"/>
          <p:nvPr/>
        </p:nvSpPr>
        <p:spPr>
          <a:xfrm>
            <a:off x="6858000" y="4663440"/>
            <a:ext cx="4343400" cy="960120"/>
          </a:xfrm>
          <a:prstGeom prst="rect">
            <a:avLst/>
          </a:prstGeom>
          <a:noFill/>
          <a:ln/>
        </p:spPr>
        <p:txBody>
          <a:bodyPr wrap="square" rtlCol="0" anchor="ctr"/>
          <a:lstStyle/>
          <a:p>
            <a:pPr marL="0" indent="0">
              <a:buNone/>
            </a:pPr>
            <a:r>
              <a:rPr lang="en-US" sz="1300" i="1" dirty="0">
                <a:solidFill>
                  <a:srgbClr val="0077B6"/>
                </a:solidFill>
                <a:latin typeface="Calibri" pitchFamily="34" charset="0"/>
                <a:ea typeface="Calibri" pitchFamily="34" charset="-122"/>
                <a:cs typeface="Calibri" pitchFamily="34" charset="-120"/>
              </a:rPr>
              <a:t>Ej.: un servidor web no necesita un servidor de impresión activo.</a:t>
            </a:r>
            <a:endParaRPr lang="en-US" sz="13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263F"/>
          </a:solidFill>
          <a:ln/>
        </p:spPr>
        <p:txBody>
          <a:bodyPr/>
          <a:lstStyle/>
          <a:p>
            <a:endParaRPr lang="en-US"/>
          </a:p>
        </p:txBody>
      </p:sp>
      <p:sp>
        <p:nvSpPr>
          <p:cNvPr id="3" name="Text 1"/>
          <p:cNvSpPr txBox="1"/>
          <p:nvPr/>
        </p:nvSpPr>
        <p:spPr>
          <a:xfrm>
            <a:off x="640080" y="1554480"/>
            <a:ext cx="2743200" cy="1463040"/>
          </a:xfrm>
          <a:prstGeom prst="rect">
            <a:avLst/>
          </a:prstGeom>
          <a:noFill/>
          <a:ln/>
        </p:spPr>
        <p:txBody>
          <a:bodyPr wrap="square" rtlCol="0" anchor="ctr"/>
          <a:lstStyle/>
          <a:p>
            <a:pPr marL="0" indent="0">
              <a:buNone/>
            </a:pPr>
            <a:r>
              <a:rPr lang="en-US" sz="9000" b="1" dirty="0">
                <a:solidFill>
                  <a:srgbClr val="1C3354"/>
                </a:solidFill>
                <a:latin typeface="Calibri" pitchFamily="34" charset="0"/>
                <a:ea typeface="Calibri" pitchFamily="34" charset="-122"/>
                <a:cs typeface="Calibri" pitchFamily="34" charset="-120"/>
              </a:rPr>
              <a:t>01</a:t>
            </a:r>
            <a:endParaRPr lang="en-US" sz="9000" dirty="0"/>
          </a:p>
        </p:txBody>
      </p:sp>
      <p:sp>
        <p:nvSpPr>
          <p:cNvPr id="4" name="Shape 2"/>
          <p:cNvSpPr/>
          <p:nvPr/>
        </p:nvSpPr>
        <p:spPr>
          <a:xfrm>
            <a:off x="731520" y="3200400"/>
            <a:ext cx="2011680" cy="0"/>
          </a:xfrm>
          <a:prstGeom prst="line">
            <a:avLst/>
          </a:prstGeom>
          <a:noFill/>
          <a:ln w="38100">
            <a:solidFill>
              <a:srgbClr val="00B4D8"/>
            </a:solidFill>
            <a:prstDash val="solid"/>
          </a:ln>
        </p:spPr>
        <p:txBody>
          <a:bodyPr/>
          <a:lstStyle/>
          <a:p>
            <a:endParaRPr lang="en-US"/>
          </a:p>
        </p:txBody>
      </p:sp>
      <p:sp>
        <p:nvSpPr>
          <p:cNvPr id="5" name="Text 3"/>
          <p:cNvSpPr txBox="1"/>
          <p:nvPr/>
        </p:nvSpPr>
        <p:spPr>
          <a:xfrm>
            <a:off x="685800" y="3383280"/>
            <a:ext cx="9144000" cy="10058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Modelos de seguridad</a:t>
            </a:r>
            <a:endParaRPr lang="en-US" sz="4000" dirty="0"/>
          </a:p>
        </p:txBody>
      </p:sp>
      <p:sp>
        <p:nvSpPr>
          <p:cNvPr id="6" name="Text 4"/>
          <p:cNvSpPr txBox="1"/>
          <p:nvPr/>
        </p:nvSpPr>
        <p:spPr>
          <a:xfrm>
            <a:off x="731520" y="4480560"/>
            <a:ext cx="8686800" cy="640080"/>
          </a:xfrm>
          <a:prstGeom prst="rect">
            <a:avLst/>
          </a:prstGeom>
          <a:noFill/>
          <a:ln/>
        </p:spPr>
        <p:txBody>
          <a:bodyPr wrap="square" rtlCol="0" anchor="ctr"/>
          <a:lstStyle/>
          <a:p>
            <a:pPr marL="0" indent="0">
              <a:buNone/>
            </a:pPr>
            <a:r>
              <a:rPr lang="en-US" sz="1600" dirty="0">
                <a:solidFill>
                  <a:srgbClr val="90E0EF"/>
                </a:solidFill>
                <a:latin typeface="Calibri" pitchFamily="34" charset="0"/>
                <a:ea typeface="Calibri" pitchFamily="34" charset="-122"/>
                <a:cs typeface="Calibri" pitchFamily="34" charset="-120"/>
              </a:rPr>
              <a:t>Dos filosofías para pensar la defensa: por capas y por desconfianza.</a:t>
            </a:r>
            <a:endParaRPr lang="en-US" sz="1600" dirty="0"/>
          </a:p>
        </p:txBody>
      </p:sp>
      <p:sp>
        <p:nvSpPr>
          <p:cNvPr id="7" name="Shape 5"/>
          <p:cNvSpPr/>
          <p:nvPr/>
        </p:nvSpPr>
        <p:spPr>
          <a:xfrm>
            <a:off x="10058400" y="3931920"/>
            <a:ext cx="1371600" cy="1371600"/>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15016" y="4288536"/>
            <a:ext cx="658368" cy="6583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MODELO 1</a:t>
            </a:r>
            <a:endParaRPr lang="en-US" sz="1200" dirty="0"/>
          </a:p>
        </p:txBody>
      </p:sp>
      <p:sp>
        <p:nvSpPr>
          <p:cNvPr id="3" name="Text 1"/>
          <p:cNvSpPr txBox="1"/>
          <p:nvPr/>
        </p:nvSpPr>
        <p:spPr>
          <a:xfrm>
            <a:off x="548640" y="731520"/>
            <a:ext cx="6400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Defensa en profundidad</a:t>
            </a:r>
            <a:endParaRPr lang="en-US" sz="3200" dirty="0"/>
          </a:p>
        </p:txBody>
      </p:sp>
      <p:sp>
        <p:nvSpPr>
          <p:cNvPr id="4" name="Text 2"/>
          <p:cNvSpPr txBox="1"/>
          <p:nvPr/>
        </p:nvSpPr>
        <p:spPr>
          <a:xfrm>
            <a:off x="548640" y="1463040"/>
            <a:ext cx="5669280" cy="1005840"/>
          </a:xfrm>
          <a:prstGeom prst="rect">
            <a:avLst/>
          </a:prstGeom>
          <a:noFill/>
          <a:ln/>
        </p:spPr>
        <p:txBody>
          <a:bodyPr wrap="square" rtlCol="0" anchor="ctr"/>
          <a:lstStyle/>
          <a:p>
            <a:pPr marL="0" indent="0">
              <a:buNone/>
            </a:pPr>
            <a:r>
              <a:rPr lang="en-US" sz="1600" dirty="0">
                <a:solidFill>
                  <a:srgbClr val="60748A"/>
                </a:solidFill>
                <a:latin typeface="Calibri" pitchFamily="34" charset="0"/>
                <a:ea typeface="Calibri" pitchFamily="34" charset="-122"/>
                <a:cs typeface="Calibri" pitchFamily="34" charset="-120"/>
              </a:rPr>
              <a:t>Múltiples capas de control. Si una falla, la siguiente contiene el ataque — nunca un único punto de fallo.</a:t>
            </a:r>
            <a:endParaRPr lang="en-US" sz="1600" dirty="0"/>
          </a:p>
        </p:txBody>
      </p:sp>
      <p:sp>
        <p:nvSpPr>
          <p:cNvPr id="5" name="Shape 3"/>
          <p:cNvSpPr/>
          <p:nvPr/>
        </p:nvSpPr>
        <p:spPr>
          <a:xfrm>
            <a:off x="6400800" y="1828800"/>
            <a:ext cx="5394960" cy="566928"/>
          </a:xfrm>
          <a:prstGeom prst="roundRect">
            <a:avLst>
              <a:gd name="adj" fmla="val 9677"/>
            </a:avLst>
          </a:prstGeom>
          <a:solidFill>
            <a:srgbClr val="023E52"/>
          </a:solidFill>
          <a:ln/>
        </p:spPr>
        <p:txBody>
          <a:bodyPr/>
          <a:lstStyle/>
          <a:p>
            <a:endParaRPr lang="en-US"/>
          </a:p>
        </p:txBody>
      </p:sp>
      <p:sp>
        <p:nvSpPr>
          <p:cNvPr id="6" name="Text 4"/>
          <p:cNvSpPr txBox="1"/>
          <p:nvPr/>
        </p:nvSpPr>
        <p:spPr>
          <a:xfrm>
            <a:off x="6583680" y="1828800"/>
            <a:ext cx="502920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Datos</a:t>
            </a:r>
            <a:endParaRPr lang="en-US" sz="1400" dirty="0"/>
          </a:p>
        </p:txBody>
      </p:sp>
      <p:sp>
        <p:nvSpPr>
          <p:cNvPr id="7" name="Shape 5"/>
          <p:cNvSpPr/>
          <p:nvPr/>
        </p:nvSpPr>
        <p:spPr>
          <a:xfrm>
            <a:off x="6629400" y="2542032"/>
            <a:ext cx="4937760" cy="566928"/>
          </a:xfrm>
          <a:prstGeom prst="roundRect">
            <a:avLst>
              <a:gd name="adj" fmla="val 9677"/>
            </a:avLst>
          </a:prstGeom>
          <a:solidFill>
            <a:srgbClr val="025A75"/>
          </a:solidFill>
          <a:ln/>
        </p:spPr>
        <p:txBody>
          <a:bodyPr/>
          <a:lstStyle/>
          <a:p>
            <a:endParaRPr lang="en-US"/>
          </a:p>
        </p:txBody>
      </p:sp>
      <p:sp>
        <p:nvSpPr>
          <p:cNvPr id="8" name="Text 6"/>
          <p:cNvSpPr txBox="1"/>
          <p:nvPr/>
        </p:nvSpPr>
        <p:spPr>
          <a:xfrm>
            <a:off x="6812280" y="2542032"/>
            <a:ext cx="457200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Aplicación</a:t>
            </a:r>
            <a:endParaRPr lang="en-US" sz="1400" dirty="0"/>
          </a:p>
        </p:txBody>
      </p:sp>
      <p:sp>
        <p:nvSpPr>
          <p:cNvPr id="9" name="Shape 7"/>
          <p:cNvSpPr/>
          <p:nvPr/>
        </p:nvSpPr>
        <p:spPr>
          <a:xfrm>
            <a:off x="6858000" y="3255264"/>
            <a:ext cx="4480560" cy="566928"/>
          </a:xfrm>
          <a:prstGeom prst="roundRect">
            <a:avLst>
              <a:gd name="adj" fmla="val 9677"/>
            </a:avLst>
          </a:prstGeom>
          <a:solidFill>
            <a:srgbClr val="0077B6"/>
          </a:solidFill>
          <a:ln/>
        </p:spPr>
        <p:txBody>
          <a:bodyPr/>
          <a:lstStyle/>
          <a:p>
            <a:endParaRPr lang="en-US"/>
          </a:p>
        </p:txBody>
      </p:sp>
      <p:sp>
        <p:nvSpPr>
          <p:cNvPr id="10" name="Text 8"/>
          <p:cNvSpPr txBox="1"/>
          <p:nvPr/>
        </p:nvSpPr>
        <p:spPr>
          <a:xfrm>
            <a:off x="7040880" y="3255264"/>
            <a:ext cx="411480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Host / Sistema operativo</a:t>
            </a:r>
            <a:endParaRPr lang="en-US" sz="1400" dirty="0"/>
          </a:p>
        </p:txBody>
      </p:sp>
      <p:sp>
        <p:nvSpPr>
          <p:cNvPr id="11" name="Shape 9"/>
          <p:cNvSpPr/>
          <p:nvPr/>
        </p:nvSpPr>
        <p:spPr>
          <a:xfrm>
            <a:off x="7086600" y="3968496"/>
            <a:ext cx="4023360" cy="566928"/>
          </a:xfrm>
          <a:prstGeom prst="roundRect">
            <a:avLst>
              <a:gd name="adj" fmla="val 9677"/>
            </a:avLst>
          </a:prstGeom>
          <a:solidFill>
            <a:srgbClr val="0096C7"/>
          </a:solidFill>
          <a:ln/>
        </p:spPr>
        <p:txBody>
          <a:bodyPr/>
          <a:lstStyle/>
          <a:p>
            <a:endParaRPr lang="en-US"/>
          </a:p>
        </p:txBody>
      </p:sp>
      <p:sp>
        <p:nvSpPr>
          <p:cNvPr id="12" name="Text 10"/>
          <p:cNvSpPr txBox="1"/>
          <p:nvPr/>
        </p:nvSpPr>
        <p:spPr>
          <a:xfrm>
            <a:off x="7269480" y="3968496"/>
            <a:ext cx="365760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Red</a:t>
            </a:r>
            <a:endParaRPr lang="en-US" sz="1400" dirty="0"/>
          </a:p>
        </p:txBody>
      </p:sp>
      <p:sp>
        <p:nvSpPr>
          <p:cNvPr id="13" name="Shape 11"/>
          <p:cNvSpPr/>
          <p:nvPr/>
        </p:nvSpPr>
        <p:spPr>
          <a:xfrm>
            <a:off x="7315200" y="4681728"/>
            <a:ext cx="3566160" cy="566928"/>
          </a:xfrm>
          <a:prstGeom prst="roundRect">
            <a:avLst>
              <a:gd name="adj" fmla="val 9677"/>
            </a:avLst>
          </a:prstGeom>
          <a:solidFill>
            <a:srgbClr val="00B4D8"/>
          </a:solidFill>
          <a:ln/>
        </p:spPr>
        <p:txBody>
          <a:bodyPr/>
          <a:lstStyle/>
          <a:p>
            <a:endParaRPr lang="en-US"/>
          </a:p>
        </p:txBody>
      </p:sp>
      <p:sp>
        <p:nvSpPr>
          <p:cNvPr id="14" name="Text 12"/>
          <p:cNvSpPr txBox="1"/>
          <p:nvPr/>
        </p:nvSpPr>
        <p:spPr>
          <a:xfrm>
            <a:off x="7498080" y="4681728"/>
            <a:ext cx="320040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Perímetro</a:t>
            </a:r>
            <a:endParaRPr lang="en-US" sz="1400" dirty="0"/>
          </a:p>
        </p:txBody>
      </p:sp>
      <p:sp>
        <p:nvSpPr>
          <p:cNvPr id="15" name="Shape 13"/>
          <p:cNvSpPr/>
          <p:nvPr/>
        </p:nvSpPr>
        <p:spPr>
          <a:xfrm>
            <a:off x="7543800" y="5394960"/>
            <a:ext cx="3108960" cy="566928"/>
          </a:xfrm>
          <a:prstGeom prst="roundRect">
            <a:avLst>
              <a:gd name="adj" fmla="val 9677"/>
            </a:avLst>
          </a:prstGeom>
          <a:solidFill>
            <a:srgbClr val="90E0EF"/>
          </a:solidFill>
          <a:ln/>
        </p:spPr>
        <p:txBody>
          <a:bodyPr/>
          <a:lstStyle/>
          <a:p>
            <a:endParaRPr lang="en-US"/>
          </a:p>
        </p:txBody>
      </p:sp>
      <p:sp>
        <p:nvSpPr>
          <p:cNvPr id="16" name="Text 14"/>
          <p:cNvSpPr txBox="1"/>
          <p:nvPr/>
        </p:nvSpPr>
        <p:spPr>
          <a:xfrm>
            <a:off x="7726680" y="5394960"/>
            <a:ext cx="2743200" cy="566928"/>
          </a:xfrm>
          <a:prstGeom prst="rect">
            <a:avLst/>
          </a:prstGeom>
          <a:noFill/>
          <a:ln/>
        </p:spPr>
        <p:txBody>
          <a:bodyPr wrap="square"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Políticas y personas</a:t>
            </a:r>
            <a:endParaRPr lang="en-US" sz="1400" dirty="0"/>
          </a:p>
        </p:txBody>
      </p:sp>
      <p:sp>
        <p:nvSpPr>
          <p:cNvPr id="17" name="Text 15"/>
          <p:cNvSpPr txBox="1"/>
          <p:nvPr/>
        </p:nvSpPr>
        <p:spPr>
          <a:xfrm>
            <a:off x="548640" y="5120640"/>
            <a:ext cx="5486400" cy="365760"/>
          </a:xfrm>
          <a:prstGeom prst="rect">
            <a:avLst/>
          </a:prstGeom>
          <a:noFill/>
          <a:ln/>
        </p:spPr>
        <p:txBody>
          <a:bodyPr wrap="square" rtlCol="0" anchor="ctr"/>
          <a:lstStyle/>
          <a:p>
            <a:pPr marL="0" indent="0">
              <a:buNone/>
            </a:pPr>
            <a:r>
              <a:rPr lang="en-US" sz="1200" i="1" dirty="0">
                <a:solidFill>
                  <a:srgbClr val="60748A"/>
                </a:solidFill>
                <a:latin typeface="Calibri" pitchFamily="34" charset="0"/>
                <a:ea typeface="Calibri" pitchFamily="34" charset="-122"/>
                <a:cs typeface="Calibri" pitchFamily="34" charset="-120"/>
              </a:rPr>
              <a:t>Núcleo a proteger</a:t>
            </a:r>
            <a:endParaRPr lang="en-US" sz="1200" dirty="0"/>
          </a:p>
        </p:txBody>
      </p:sp>
      <p:sp>
        <p:nvSpPr>
          <p:cNvPr id="18" name="Text 16"/>
          <p:cNvSpPr txBox="1"/>
          <p:nvPr/>
        </p:nvSpPr>
        <p:spPr>
          <a:xfrm>
            <a:off x="548640" y="5440680"/>
            <a:ext cx="5486400" cy="548640"/>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Cada capa es una oportunidad de detener o detectar al atacante.</a:t>
            </a:r>
            <a:endParaRPr lang="en-US" sz="14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MODELO 2</a:t>
            </a:r>
            <a:endParaRPr lang="en-US" sz="1200" dirty="0"/>
          </a:p>
        </p:txBody>
      </p:sp>
      <p:sp>
        <p:nvSpPr>
          <p:cNvPr id="3" name="Text 1"/>
          <p:cNvSpPr txBox="1"/>
          <p:nvPr/>
        </p:nvSpPr>
        <p:spPr>
          <a:xfrm>
            <a:off x="548640" y="731520"/>
            <a:ext cx="6400800" cy="731520"/>
          </a:xfrm>
          <a:prstGeom prst="rect">
            <a:avLst/>
          </a:prstGeom>
          <a:noFill/>
          <a:ln/>
        </p:spPr>
        <p:txBody>
          <a:bodyPr wrap="square" rtlCol="0" anchor="ctr"/>
          <a:lstStyle/>
          <a:p>
            <a:pPr marL="0" indent="0">
              <a:buNone/>
            </a:pPr>
            <a:r>
              <a:rPr lang="en-US" sz="3400" b="1" dirty="0">
                <a:solidFill>
                  <a:srgbClr val="0A1628"/>
                </a:solidFill>
                <a:latin typeface="Calibri" pitchFamily="34" charset="0"/>
                <a:ea typeface="Calibri" pitchFamily="34" charset="-122"/>
                <a:cs typeface="Calibri" pitchFamily="34" charset="-120"/>
              </a:rPr>
              <a:t>Zero Trust</a:t>
            </a:r>
            <a:endParaRPr lang="en-US" sz="3400" dirty="0"/>
          </a:p>
        </p:txBody>
      </p:sp>
      <p:sp>
        <p:nvSpPr>
          <p:cNvPr id="4" name="Shape 2"/>
          <p:cNvSpPr/>
          <p:nvPr/>
        </p:nvSpPr>
        <p:spPr>
          <a:xfrm>
            <a:off x="548640" y="1554480"/>
            <a:ext cx="7132320" cy="685800"/>
          </a:xfrm>
          <a:prstGeom prst="roundRect">
            <a:avLst>
              <a:gd name="adj" fmla="val 49333"/>
            </a:avLst>
          </a:prstGeom>
          <a:solidFill>
            <a:srgbClr val="0A1628"/>
          </a:solidFill>
          <a:ln/>
        </p:spPr>
        <p:txBody>
          <a:bodyPr/>
          <a:lstStyle/>
          <a:p>
            <a:endParaRPr lang="en-US"/>
          </a:p>
        </p:txBody>
      </p:sp>
      <p:sp>
        <p:nvSpPr>
          <p:cNvPr id="5" name="Text 3"/>
          <p:cNvSpPr txBox="1"/>
          <p:nvPr/>
        </p:nvSpPr>
        <p:spPr>
          <a:xfrm>
            <a:off x="548640" y="1554480"/>
            <a:ext cx="7132320" cy="685800"/>
          </a:xfrm>
          <a:prstGeom prst="rect">
            <a:avLst/>
          </a:prstGeom>
          <a:noFill/>
          <a:ln/>
        </p:spPr>
        <p:txBody>
          <a:bodyPr wrap="square" rtlCol="0" anchor="ctr"/>
          <a:lstStyle/>
          <a:p>
            <a:pPr marL="0" indent="0" algn="ctr">
              <a:buNone/>
            </a:pPr>
            <a:r>
              <a:rPr lang="en-US" sz="1800" b="1" i="1" dirty="0">
                <a:solidFill>
                  <a:srgbClr val="00B4D8"/>
                </a:solidFill>
                <a:latin typeface="Calibri" pitchFamily="34" charset="0"/>
                <a:ea typeface="Calibri" pitchFamily="34" charset="-122"/>
                <a:cs typeface="Calibri" pitchFamily="34" charset="-120"/>
              </a:rPr>
              <a:t>“Nunca confíes, siempre verifica”</a:t>
            </a:r>
            <a:endParaRPr lang="en-US" sz="1800" dirty="0"/>
          </a:p>
        </p:txBody>
      </p:sp>
      <p:sp>
        <p:nvSpPr>
          <p:cNvPr id="6" name="Shape 4"/>
          <p:cNvSpPr/>
          <p:nvPr/>
        </p:nvSpPr>
        <p:spPr>
          <a:xfrm>
            <a:off x="548640" y="2606040"/>
            <a:ext cx="11064240" cy="987552"/>
          </a:xfrm>
          <a:prstGeom prst="roundRect">
            <a:avLst>
              <a:gd name="adj" fmla="val 7407"/>
            </a:avLst>
          </a:prstGeom>
          <a:solidFill>
            <a:srgbClr val="FFFFFF"/>
          </a:solidFill>
          <a:ln w="12700">
            <a:solidFill>
              <a:srgbClr val="D8E3EC"/>
            </a:solidFill>
            <a:prstDash val="solid"/>
          </a:ln>
        </p:spPr>
        <p:txBody>
          <a:bodyPr/>
          <a:lstStyle/>
          <a:p>
            <a:endParaRPr lang="en-US"/>
          </a:p>
        </p:txBody>
      </p:sp>
      <p:sp>
        <p:nvSpPr>
          <p:cNvPr id="7" name="Shape 5"/>
          <p:cNvSpPr/>
          <p:nvPr/>
        </p:nvSpPr>
        <p:spPr>
          <a:xfrm>
            <a:off x="777240" y="2761488"/>
            <a:ext cx="676656" cy="676656"/>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53171" y="2937419"/>
            <a:ext cx="324795" cy="324795"/>
          </a:xfrm>
          <a:prstGeom prst="rect">
            <a:avLst/>
          </a:prstGeom>
        </p:spPr>
      </p:pic>
      <p:sp>
        <p:nvSpPr>
          <p:cNvPr id="9" name="Text 6"/>
          <p:cNvSpPr txBox="1"/>
          <p:nvPr/>
        </p:nvSpPr>
        <p:spPr>
          <a:xfrm>
            <a:off x="1691640" y="2715768"/>
            <a:ext cx="3840480" cy="77724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Verifica explícitamente</a:t>
            </a:r>
            <a:endParaRPr lang="en-US" sz="1800" dirty="0"/>
          </a:p>
        </p:txBody>
      </p:sp>
      <p:sp>
        <p:nvSpPr>
          <p:cNvPr id="10" name="Text 7"/>
          <p:cNvSpPr txBox="1"/>
          <p:nvPr/>
        </p:nvSpPr>
        <p:spPr>
          <a:xfrm>
            <a:off x="5577840" y="2715768"/>
            <a:ext cx="5852160" cy="777240"/>
          </a:xfrm>
          <a:prstGeom prst="rect">
            <a:avLst/>
          </a:prstGeom>
          <a:noFill/>
          <a:ln/>
        </p:spPr>
        <p:txBody>
          <a:bodyPr wrap="square" rtlCol="0" anchor="ctr"/>
          <a:lstStyle/>
          <a:p>
            <a:pPr marL="0" indent="0">
              <a:buNone/>
            </a:pPr>
            <a:r>
              <a:rPr lang="en-US" sz="1400" dirty="0">
                <a:solidFill>
                  <a:srgbClr val="33465A"/>
                </a:solidFill>
                <a:latin typeface="Calibri" pitchFamily="34" charset="0"/>
                <a:ea typeface="Calibri" pitchFamily="34" charset="-122"/>
                <a:cs typeface="Calibri" pitchFamily="34" charset="-120"/>
              </a:rPr>
              <a:t>Autentica y autoriza cada acceso con todo el contexto disponible.</a:t>
            </a:r>
            <a:endParaRPr lang="en-US" sz="1400" dirty="0"/>
          </a:p>
        </p:txBody>
      </p:sp>
      <p:sp>
        <p:nvSpPr>
          <p:cNvPr id="11" name="Shape 8"/>
          <p:cNvSpPr/>
          <p:nvPr/>
        </p:nvSpPr>
        <p:spPr>
          <a:xfrm>
            <a:off x="548640" y="3749040"/>
            <a:ext cx="11064240" cy="987552"/>
          </a:xfrm>
          <a:prstGeom prst="roundRect">
            <a:avLst>
              <a:gd name="adj" fmla="val 7407"/>
            </a:avLst>
          </a:prstGeom>
          <a:solidFill>
            <a:srgbClr val="FFFFFF"/>
          </a:solidFill>
          <a:ln w="12700">
            <a:solidFill>
              <a:srgbClr val="D8E3EC"/>
            </a:solidFill>
            <a:prstDash val="solid"/>
          </a:ln>
        </p:spPr>
        <p:txBody>
          <a:bodyPr/>
          <a:lstStyle/>
          <a:p>
            <a:endParaRPr lang="en-US"/>
          </a:p>
        </p:txBody>
      </p:sp>
      <p:sp>
        <p:nvSpPr>
          <p:cNvPr id="12" name="Shape 9"/>
          <p:cNvSpPr/>
          <p:nvPr/>
        </p:nvSpPr>
        <p:spPr>
          <a:xfrm>
            <a:off x="777240" y="3904488"/>
            <a:ext cx="676656" cy="676656"/>
          </a:xfrm>
          <a:prstGeom prst="ellipse">
            <a:avLst/>
          </a:prstGeom>
          <a:solidFill>
            <a:srgbClr val="00B4D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953171" y="4080419"/>
            <a:ext cx="324795" cy="324795"/>
          </a:xfrm>
          <a:prstGeom prst="rect">
            <a:avLst/>
          </a:prstGeom>
        </p:spPr>
      </p:pic>
      <p:sp>
        <p:nvSpPr>
          <p:cNvPr id="14" name="Text 10"/>
          <p:cNvSpPr txBox="1"/>
          <p:nvPr/>
        </p:nvSpPr>
        <p:spPr>
          <a:xfrm>
            <a:off x="1691640" y="3858768"/>
            <a:ext cx="3840480" cy="77724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Mínimo privilegio</a:t>
            </a:r>
            <a:endParaRPr lang="en-US" sz="1800" dirty="0"/>
          </a:p>
        </p:txBody>
      </p:sp>
      <p:sp>
        <p:nvSpPr>
          <p:cNvPr id="15" name="Text 11"/>
          <p:cNvSpPr txBox="1"/>
          <p:nvPr/>
        </p:nvSpPr>
        <p:spPr>
          <a:xfrm>
            <a:off x="5577840" y="3858768"/>
            <a:ext cx="5852160" cy="777240"/>
          </a:xfrm>
          <a:prstGeom prst="rect">
            <a:avLst/>
          </a:prstGeom>
          <a:noFill/>
          <a:ln/>
        </p:spPr>
        <p:txBody>
          <a:bodyPr wrap="square" rtlCol="0" anchor="ctr"/>
          <a:lstStyle/>
          <a:p>
            <a:pPr marL="0" indent="0">
              <a:buNone/>
            </a:pPr>
            <a:r>
              <a:rPr lang="en-US" sz="1400" dirty="0">
                <a:solidFill>
                  <a:srgbClr val="33465A"/>
                </a:solidFill>
                <a:latin typeface="Calibri" pitchFamily="34" charset="0"/>
                <a:ea typeface="Calibri" pitchFamily="34" charset="-122"/>
                <a:cs typeface="Calibri" pitchFamily="34" charset="-120"/>
              </a:rPr>
              <a:t>Acceso justo a tiempo y justo lo necesario, nunca permanente por defecto.</a:t>
            </a:r>
            <a:endParaRPr lang="en-US" sz="1400" dirty="0"/>
          </a:p>
        </p:txBody>
      </p:sp>
      <p:sp>
        <p:nvSpPr>
          <p:cNvPr id="16" name="Shape 12"/>
          <p:cNvSpPr/>
          <p:nvPr/>
        </p:nvSpPr>
        <p:spPr>
          <a:xfrm>
            <a:off x="548640" y="4892040"/>
            <a:ext cx="11064240" cy="987552"/>
          </a:xfrm>
          <a:prstGeom prst="roundRect">
            <a:avLst>
              <a:gd name="adj" fmla="val 7407"/>
            </a:avLst>
          </a:prstGeom>
          <a:solidFill>
            <a:srgbClr val="FFFFFF"/>
          </a:solidFill>
          <a:ln w="12700">
            <a:solidFill>
              <a:srgbClr val="D8E3EC"/>
            </a:solidFill>
            <a:prstDash val="solid"/>
          </a:ln>
        </p:spPr>
        <p:txBody>
          <a:bodyPr/>
          <a:lstStyle/>
          <a:p>
            <a:endParaRPr lang="en-US"/>
          </a:p>
        </p:txBody>
      </p:sp>
      <p:sp>
        <p:nvSpPr>
          <p:cNvPr id="17" name="Shape 13"/>
          <p:cNvSpPr/>
          <p:nvPr/>
        </p:nvSpPr>
        <p:spPr>
          <a:xfrm>
            <a:off x="777240" y="5047488"/>
            <a:ext cx="676656" cy="676656"/>
          </a:xfrm>
          <a:prstGeom prst="ellipse">
            <a:avLst/>
          </a:prstGeom>
          <a:solidFill>
            <a:srgbClr val="00B4D8"/>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53171" y="5223419"/>
            <a:ext cx="324795" cy="324795"/>
          </a:xfrm>
          <a:prstGeom prst="rect">
            <a:avLst/>
          </a:prstGeom>
        </p:spPr>
      </p:pic>
      <p:sp>
        <p:nvSpPr>
          <p:cNvPr id="19" name="Text 14"/>
          <p:cNvSpPr txBox="1"/>
          <p:nvPr/>
        </p:nvSpPr>
        <p:spPr>
          <a:xfrm>
            <a:off x="1691640" y="5001768"/>
            <a:ext cx="3840480" cy="77724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Asume la brecha</a:t>
            </a:r>
            <a:endParaRPr lang="en-US" sz="1800" dirty="0"/>
          </a:p>
        </p:txBody>
      </p:sp>
      <p:sp>
        <p:nvSpPr>
          <p:cNvPr id="20" name="Text 15"/>
          <p:cNvSpPr txBox="1"/>
          <p:nvPr/>
        </p:nvSpPr>
        <p:spPr>
          <a:xfrm>
            <a:off x="5577840" y="5001768"/>
            <a:ext cx="5852160" cy="777240"/>
          </a:xfrm>
          <a:prstGeom prst="rect">
            <a:avLst/>
          </a:prstGeom>
          <a:noFill/>
          <a:ln/>
        </p:spPr>
        <p:txBody>
          <a:bodyPr wrap="square" rtlCol="0" anchor="ctr"/>
          <a:lstStyle/>
          <a:p>
            <a:pPr marL="0" indent="0">
              <a:buNone/>
            </a:pPr>
            <a:r>
              <a:rPr lang="en-US" sz="1400" dirty="0">
                <a:solidFill>
                  <a:srgbClr val="33465A"/>
                </a:solidFill>
                <a:latin typeface="Calibri" pitchFamily="34" charset="0"/>
                <a:ea typeface="Calibri" pitchFamily="34" charset="-122"/>
                <a:cs typeface="Calibri" pitchFamily="34" charset="-120"/>
              </a:rPr>
              <a:t>Diseña como si el atacante ya estuviera dentro: segmenta y registra todo.</a:t>
            </a:r>
            <a:endParaRPr lang="en-US" sz="14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NO COMPITEN: SE COMPLEMENTAN</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Defense in Depth + Zero Trust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401568"/>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548640">
                <a:tc>
                  <a:txBody>
                    <a:bodyPr/>
                    <a:lstStyle/>
                    <a:p>
                      <a:pPr marL="0" indent="0" algn="l">
                        <a:buNone/>
                      </a:pP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solidFill>
                      <a:srgbClr val="F3F7F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Defense in Depth</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solidFill>
                      <a:srgbClr val="0077B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Zero Trust</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713232">
                <a:tc>
                  <a:txBody>
                    <a:bodyPr/>
                    <a:lstStyle/>
                    <a:p>
                      <a:pPr marL="0" indent="0" algn="l">
                        <a:buNone/>
                      </a:pPr>
                      <a:r>
                        <a:rPr lang="en-US" sz="1400" b="1" dirty="0">
                          <a:solidFill>
                            <a:srgbClr val="0A1628"/>
                          </a:solidFill>
                          <a:latin typeface="Calibri" pitchFamily="34" charset="0"/>
                          <a:ea typeface="Calibri" pitchFamily="34" charset="-122"/>
                          <a:cs typeface="Calibri" pitchFamily="34" charset="-120"/>
                        </a:rPr>
                        <a:t>Idea base</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Capas redundantes de control</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Verificar cada acceso, sin confianza implícita</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lgn="l">
                        <a:buNone/>
                      </a:pPr>
                      <a:r>
                        <a:rPr lang="en-US" sz="1400" b="1" dirty="0">
                          <a:solidFill>
                            <a:srgbClr val="0A1628"/>
                          </a:solidFill>
                          <a:latin typeface="Calibri" pitchFamily="34" charset="0"/>
                          <a:ea typeface="Calibri" pitchFamily="34" charset="-122"/>
                          <a:cs typeface="Calibri" pitchFamily="34" charset="-120"/>
                        </a:rPr>
                        <a:t>Supuesto</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El perímetro puede fallar</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Ya no hay perímetro confiable</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lgn="l">
                        <a:buNone/>
                      </a:pPr>
                      <a:r>
                        <a:rPr lang="en-US" sz="1400" b="1" dirty="0">
                          <a:solidFill>
                            <a:srgbClr val="0A1628"/>
                          </a:solidFill>
                          <a:latin typeface="Calibri" pitchFamily="34" charset="0"/>
                          <a:ea typeface="Calibri" pitchFamily="34" charset="-122"/>
                          <a:cs typeface="Calibri" pitchFamily="34" charset="-120"/>
                        </a:rPr>
                        <a:t>Pregunta clave</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¿Qué pasa si esta capa cae?</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¿Este acceso está verificado ahora?</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lgn="l">
                        <a:buNone/>
                      </a:pPr>
                      <a:r>
                        <a:rPr lang="en-US" sz="1400" b="1" dirty="0">
                          <a:solidFill>
                            <a:srgbClr val="0A1628"/>
                          </a:solidFill>
                          <a:latin typeface="Calibri" pitchFamily="34" charset="0"/>
                          <a:ea typeface="Calibri" pitchFamily="34" charset="-122"/>
                          <a:cs typeface="Calibri" pitchFamily="34" charset="-120"/>
                        </a:rPr>
                        <a:t>En el curso</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Cada clase endurece una capa</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tc>
                  <a:txBody>
                    <a:bodyPr/>
                    <a:lstStyle/>
                    <a:p>
                      <a:pPr marL="0" indent="0" algn="l">
                        <a:buNone/>
                      </a:pPr>
                      <a:r>
                        <a:rPr lang="en-US" sz="1400" dirty="0">
                          <a:solidFill>
                            <a:srgbClr val="0A1628"/>
                          </a:solidFill>
                          <a:latin typeface="Calibri" pitchFamily="34" charset="0"/>
                          <a:ea typeface="Calibri" pitchFamily="34" charset="-122"/>
                          <a:cs typeface="Calibri" pitchFamily="34" charset="-120"/>
                        </a:rPr>
                        <a:t>Cuentas, identidad y nube</a:t>
                      </a:r>
                      <a:endParaRPr lang="en-US" sz="1400" dirty="0">
                        <a:latin typeface="Calibri" charset="0"/>
                        <a:ea typeface="Calibri" charset="0"/>
                        <a:cs typeface="Calibri" charset="0"/>
                      </a:endParaRPr>
                    </a:p>
                  </a:txBody>
                  <a:tcPr marL="101600" marR="101600" marT="50800" marB="50800" anchor="ctr">
                    <a:lnL w="12700" cap="flat" cmpd="sng" algn="ctr">
                      <a:solidFill>
                        <a:srgbClr val="D8E3EC"/>
                      </a:solidFill>
                      <a:prstDash val="solid"/>
                      <a:round/>
                      <a:headEnd type="none" w="med" len="med"/>
                      <a:tailEnd type="none" w="med" len="med"/>
                    </a:lnL>
                    <a:lnR w="12700" cap="flat" cmpd="sng" algn="ctr">
                      <a:solidFill>
                        <a:srgbClr val="D8E3EC"/>
                      </a:solidFill>
                      <a:prstDash val="solid"/>
                      <a:round/>
                      <a:headEnd type="none" w="med" len="med"/>
                      <a:tailEnd type="none" w="med" len="med"/>
                    </a:lnR>
                    <a:lnT w="12700" cap="flat" cmpd="sng" algn="ctr">
                      <a:solidFill>
                        <a:srgbClr val="D8E3EC"/>
                      </a:solidFill>
                      <a:prstDash val="solid"/>
                      <a:round/>
                      <a:headEnd type="none" w="med" len="med"/>
                      <a:tailEnd type="none" w="med" len="med"/>
                    </a:lnT>
                    <a:lnB w="12700" cap="flat" cmpd="sng" algn="ctr">
                      <a:solidFill>
                        <a:srgbClr val="D8E3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548640" y="5806440"/>
            <a:ext cx="11064240" cy="502920"/>
          </a:xfrm>
          <a:prstGeom prst="roundRect">
            <a:avLst>
              <a:gd name="adj" fmla="val 18182"/>
            </a:avLst>
          </a:prstGeom>
          <a:solidFill>
            <a:srgbClr val="0A1628"/>
          </a:solidFill>
          <a:ln/>
        </p:spPr>
        <p:txBody>
          <a:bodyPr/>
          <a:lstStyle/>
          <a:p>
            <a:endParaRPr lang="en-US"/>
          </a:p>
        </p:txBody>
      </p:sp>
      <p:sp>
        <p:nvSpPr>
          <p:cNvPr id="6" name="Text 3"/>
          <p:cNvSpPr txBox="1"/>
          <p:nvPr/>
        </p:nvSpPr>
        <p:spPr>
          <a:xfrm>
            <a:off x="548640" y="5806440"/>
            <a:ext cx="1106424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En la práctica: aplicamos capas (DiD) y, dentro de cada capa, verificamos identidades y accesos (Zero Trust).</a:t>
            </a:r>
            <a:endParaRPr lang="en-US" sz="135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263F"/>
          </a:solidFill>
          <a:ln/>
        </p:spPr>
        <p:txBody>
          <a:bodyPr/>
          <a:lstStyle/>
          <a:p>
            <a:endParaRPr lang="en-US"/>
          </a:p>
        </p:txBody>
      </p:sp>
      <p:sp>
        <p:nvSpPr>
          <p:cNvPr id="3" name="Text 1"/>
          <p:cNvSpPr txBox="1"/>
          <p:nvPr/>
        </p:nvSpPr>
        <p:spPr>
          <a:xfrm>
            <a:off x="640080" y="1554480"/>
            <a:ext cx="2743200" cy="1463040"/>
          </a:xfrm>
          <a:prstGeom prst="rect">
            <a:avLst/>
          </a:prstGeom>
          <a:noFill/>
          <a:ln/>
        </p:spPr>
        <p:txBody>
          <a:bodyPr wrap="square" rtlCol="0" anchor="ctr"/>
          <a:lstStyle/>
          <a:p>
            <a:pPr marL="0" indent="0">
              <a:buNone/>
            </a:pPr>
            <a:r>
              <a:rPr lang="en-US" sz="9000" b="1" dirty="0">
                <a:solidFill>
                  <a:srgbClr val="1C3354"/>
                </a:solidFill>
                <a:latin typeface="Calibri" pitchFamily="34" charset="0"/>
                <a:ea typeface="Calibri" pitchFamily="34" charset="-122"/>
                <a:cs typeface="Calibri" pitchFamily="34" charset="-120"/>
              </a:rPr>
              <a:t>02</a:t>
            </a:r>
            <a:endParaRPr lang="en-US" sz="9000" dirty="0"/>
          </a:p>
        </p:txBody>
      </p:sp>
      <p:sp>
        <p:nvSpPr>
          <p:cNvPr id="4" name="Shape 2"/>
          <p:cNvSpPr/>
          <p:nvPr/>
        </p:nvSpPr>
        <p:spPr>
          <a:xfrm>
            <a:off x="731520" y="3200400"/>
            <a:ext cx="2011680" cy="0"/>
          </a:xfrm>
          <a:prstGeom prst="line">
            <a:avLst/>
          </a:prstGeom>
          <a:noFill/>
          <a:ln w="38100">
            <a:solidFill>
              <a:srgbClr val="00B4D8"/>
            </a:solidFill>
            <a:prstDash val="solid"/>
          </a:ln>
        </p:spPr>
        <p:txBody>
          <a:bodyPr/>
          <a:lstStyle/>
          <a:p>
            <a:endParaRPr lang="en-US"/>
          </a:p>
        </p:txBody>
      </p:sp>
      <p:sp>
        <p:nvSpPr>
          <p:cNvPr id="5" name="Text 3"/>
          <p:cNvSpPr txBox="1"/>
          <p:nvPr/>
        </p:nvSpPr>
        <p:spPr>
          <a:xfrm>
            <a:off x="685800" y="3383280"/>
            <a:ext cx="9144000" cy="10058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Marcos y estándares</a:t>
            </a:r>
            <a:endParaRPr lang="en-US" sz="4000" dirty="0"/>
          </a:p>
        </p:txBody>
      </p:sp>
      <p:sp>
        <p:nvSpPr>
          <p:cNvPr id="6" name="Text 4"/>
          <p:cNvSpPr txBox="1"/>
          <p:nvPr/>
        </p:nvSpPr>
        <p:spPr>
          <a:xfrm>
            <a:off x="731520" y="4480560"/>
            <a:ext cx="8686800" cy="640080"/>
          </a:xfrm>
          <a:prstGeom prst="rect">
            <a:avLst/>
          </a:prstGeom>
          <a:noFill/>
          <a:ln/>
        </p:spPr>
        <p:txBody>
          <a:bodyPr wrap="square" rtlCol="0" anchor="ctr"/>
          <a:lstStyle/>
          <a:p>
            <a:pPr marL="0" indent="0">
              <a:buNone/>
            </a:pPr>
            <a:r>
              <a:rPr lang="en-US" sz="1600" dirty="0">
                <a:solidFill>
                  <a:srgbClr val="90E0EF"/>
                </a:solidFill>
                <a:latin typeface="Calibri" pitchFamily="34" charset="0"/>
                <a:ea typeface="Calibri" pitchFamily="34" charset="-122"/>
                <a:cs typeface="Calibri" pitchFamily="34" charset="-120"/>
              </a:rPr>
              <a:t>Ordenemos la sopa de siglas: quién dice el QUÉ y quién dice el CÓMO.</a:t>
            </a:r>
            <a:endParaRPr lang="en-US" sz="1600" dirty="0"/>
          </a:p>
        </p:txBody>
      </p:sp>
      <p:sp>
        <p:nvSpPr>
          <p:cNvPr id="7" name="Shape 5"/>
          <p:cNvSpPr/>
          <p:nvPr/>
        </p:nvSpPr>
        <p:spPr>
          <a:xfrm>
            <a:off x="10058400" y="3931920"/>
            <a:ext cx="1371600" cy="1371600"/>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15016" y="4288536"/>
            <a:ext cx="658368" cy="6583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LA IDEA QUE ORDENA TODO</a:t>
            </a:r>
            <a:endParaRPr lang="en-US" sz="1200" dirty="0"/>
          </a:p>
        </p:txBody>
      </p:sp>
      <p:sp>
        <p:nvSpPr>
          <p:cNvPr id="3" name="Text 1"/>
          <p:cNvSpPr txBox="1"/>
          <p:nvPr/>
        </p:nvSpPr>
        <p:spPr>
          <a:xfrm>
            <a:off x="548640" y="731520"/>
            <a:ext cx="11064240" cy="731520"/>
          </a:xfrm>
          <a:prstGeom prst="rect">
            <a:avLst/>
          </a:prstGeom>
          <a:noFill/>
          <a:ln/>
        </p:spPr>
        <p:txBody>
          <a:bodyPr wrap="square" rtlCol="0" anchor="ctr"/>
          <a:lstStyle/>
          <a:p>
            <a:pPr marL="0" indent="0">
              <a:buNone/>
            </a:pPr>
            <a:r>
              <a:rPr lang="en-US" sz="3000" b="1" dirty="0">
                <a:solidFill>
                  <a:srgbClr val="0A1628"/>
                </a:solidFill>
                <a:latin typeface="Calibri" pitchFamily="34" charset="0"/>
                <a:ea typeface="Calibri" pitchFamily="34" charset="-122"/>
                <a:cs typeface="Calibri" pitchFamily="34" charset="-120"/>
              </a:rPr>
              <a:t>Gobierno dice el QUÉ · Técnico dice el CÓMO</a:t>
            </a:r>
            <a:endParaRPr lang="en-US" sz="3000" dirty="0"/>
          </a:p>
        </p:txBody>
      </p:sp>
      <p:sp>
        <p:nvSpPr>
          <p:cNvPr id="4" name="Shape 2"/>
          <p:cNvSpPr/>
          <p:nvPr/>
        </p:nvSpPr>
        <p:spPr>
          <a:xfrm>
            <a:off x="548640" y="1737360"/>
            <a:ext cx="11064240" cy="1234440"/>
          </a:xfrm>
          <a:prstGeom prst="roundRect">
            <a:avLst>
              <a:gd name="adj" fmla="val 7407"/>
            </a:avLst>
          </a:prstGeom>
          <a:solidFill>
            <a:srgbClr val="0A1628"/>
          </a:solidFill>
          <a:ln w="12700">
            <a:solidFill>
              <a:srgbClr val="D8E3EC"/>
            </a:solidFill>
            <a:prstDash val="solid"/>
          </a:ln>
        </p:spPr>
        <p:txBody>
          <a:bodyPr/>
          <a:lstStyle/>
          <a:p>
            <a:endParaRPr lang="en-US"/>
          </a:p>
        </p:txBody>
      </p:sp>
      <p:sp>
        <p:nvSpPr>
          <p:cNvPr id="5" name="Text 3"/>
          <p:cNvSpPr txBox="1"/>
          <p:nvPr/>
        </p:nvSpPr>
        <p:spPr>
          <a:xfrm>
            <a:off x="914400" y="1901952"/>
            <a:ext cx="4754880" cy="45720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ISO 45001 &amp; 27001 · NIST</a:t>
            </a:r>
            <a:endParaRPr lang="en-US" sz="2100" dirty="0"/>
          </a:p>
        </p:txBody>
      </p:sp>
      <p:sp>
        <p:nvSpPr>
          <p:cNvPr id="6" name="Text 4"/>
          <p:cNvSpPr txBox="1"/>
          <p:nvPr/>
        </p:nvSpPr>
        <p:spPr>
          <a:xfrm>
            <a:off x="914400" y="2423160"/>
            <a:ext cx="4754880" cy="36576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GOBIERNO Y GESTIÓN DEL RIESGO</a:t>
            </a:r>
            <a:endParaRPr lang="en-US" sz="1100" dirty="0"/>
          </a:p>
        </p:txBody>
      </p:sp>
      <p:sp>
        <p:nvSpPr>
          <p:cNvPr id="7" name="Shape 5"/>
          <p:cNvSpPr/>
          <p:nvPr/>
        </p:nvSpPr>
        <p:spPr>
          <a:xfrm>
            <a:off x="6035040" y="1965960"/>
            <a:ext cx="0" cy="777240"/>
          </a:xfrm>
          <a:prstGeom prst="line">
            <a:avLst/>
          </a:prstGeom>
          <a:noFill/>
          <a:ln w="12700">
            <a:solidFill>
              <a:srgbClr val="2B4668"/>
            </a:solidFill>
            <a:prstDash val="solid"/>
          </a:ln>
        </p:spPr>
        <p:txBody>
          <a:bodyPr/>
          <a:lstStyle/>
          <a:p>
            <a:endParaRPr lang="en-US"/>
          </a:p>
        </p:txBody>
      </p:sp>
      <p:sp>
        <p:nvSpPr>
          <p:cNvPr id="8" name="Text 6"/>
          <p:cNvSpPr txBox="1"/>
          <p:nvPr/>
        </p:nvSpPr>
        <p:spPr>
          <a:xfrm>
            <a:off x="6400800" y="1920240"/>
            <a:ext cx="4937760" cy="9144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Definen QUÉ objetivos de seguridad perseguir y cómo gestionarlos.</a:t>
            </a:r>
            <a:endParaRPr lang="en-US" sz="1450" dirty="0"/>
          </a:p>
        </p:txBody>
      </p:sp>
      <p:sp>
        <p:nvSpPr>
          <p:cNvPr id="9" name="Shape 7"/>
          <p:cNvSpPr/>
          <p:nvPr/>
        </p:nvSpPr>
        <p:spPr>
          <a:xfrm>
            <a:off x="548640" y="3154680"/>
            <a:ext cx="11064240" cy="1234440"/>
          </a:xfrm>
          <a:prstGeom prst="roundRect">
            <a:avLst>
              <a:gd name="adj" fmla="val 7407"/>
            </a:avLst>
          </a:prstGeom>
          <a:solidFill>
            <a:srgbClr val="00B4D8"/>
          </a:solidFill>
          <a:ln w="12700">
            <a:solidFill>
              <a:srgbClr val="D8E3EC"/>
            </a:solidFill>
            <a:prstDash val="solid"/>
          </a:ln>
        </p:spPr>
        <p:txBody>
          <a:bodyPr/>
          <a:lstStyle/>
          <a:p>
            <a:endParaRPr lang="en-US"/>
          </a:p>
        </p:txBody>
      </p:sp>
      <p:sp>
        <p:nvSpPr>
          <p:cNvPr id="10" name="Text 8"/>
          <p:cNvSpPr txBox="1"/>
          <p:nvPr/>
        </p:nvSpPr>
        <p:spPr>
          <a:xfrm>
            <a:off x="914400" y="3319272"/>
            <a:ext cx="4754880" cy="457200"/>
          </a:xfrm>
          <a:prstGeom prst="rect">
            <a:avLst/>
          </a:prstGeom>
          <a:noFill/>
          <a:ln/>
        </p:spPr>
        <p:txBody>
          <a:bodyPr wrap="square" rtlCol="0" anchor="ctr"/>
          <a:lstStyle/>
          <a:p>
            <a:pPr marL="0" indent="0">
              <a:buNone/>
            </a:pPr>
            <a:r>
              <a:rPr lang="en-US" sz="2100" b="1" dirty="0">
                <a:solidFill>
                  <a:srgbClr val="0A1628"/>
                </a:solidFill>
                <a:latin typeface="Calibri" pitchFamily="34" charset="0"/>
                <a:ea typeface="Calibri" pitchFamily="34" charset="-122"/>
                <a:cs typeface="Calibri" pitchFamily="34" charset="-120"/>
              </a:rPr>
              <a:t>CIS Controls &amp; Benchmarks</a:t>
            </a:r>
            <a:endParaRPr lang="en-US" sz="2100" dirty="0"/>
          </a:p>
        </p:txBody>
      </p:sp>
      <p:sp>
        <p:nvSpPr>
          <p:cNvPr id="11" name="Text 9"/>
          <p:cNvSpPr txBox="1"/>
          <p:nvPr/>
        </p:nvSpPr>
        <p:spPr>
          <a:xfrm>
            <a:off x="914400" y="3840480"/>
            <a:ext cx="4754880" cy="365760"/>
          </a:xfrm>
          <a:prstGeom prst="rect">
            <a:avLst/>
          </a:prstGeom>
          <a:noFill/>
          <a:ln/>
        </p:spPr>
        <p:txBody>
          <a:bodyPr wrap="square" rtlCol="0" anchor="ctr"/>
          <a:lstStyle/>
          <a:p>
            <a:pPr marL="0" indent="0">
              <a:buNone/>
            </a:pPr>
            <a:r>
              <a:rPr lang="en-US" sz="1100" b="1" kern="0" spc="200" dirty="0">
                <a:solidFill>
                  <a:srgbClr val="0A1628"/>
                </a:solidFill>
                <a:latin typeface="Calibri" pitchFamily="34" charset="0"/>
                <a:ea typeface="Calibri" pitchFamily="34" charset="-122"/>
                <a:cs typeface="Calibri" pitchFamily="34" charset="-120"/>
              </a:rPr>
              <a:t>IMPLEMENTACIÓN TÉCNICA</a:t>
            </a:r>
            <a:endParaRPr lang="en-US" sz="1100" dirty="0"/>
          </a:p>
        </p:txBody>
      </p:sp>
      <p:sp>
        <p:nvSpPr>
          <p:cNvPr id="12" name="Shape 10"/>
          <p:cNvSpPr/>
          <p:nvPr/>
        </p:nvSpPr>
        <p:spPr>
          <a:xfrm>
            <a:off x="6035040" y="3383280"/>
            <a:ext cx="0" cy="777240"/>
          </a:xfrm>
          <a:prstGeom prst="line">
            <a:avLst/>
          </a:prstGeom>
          <a:noFill/>
          <a:ln w="12700">
            <a:solidFill>
              <a:srgbClr val="0A6E88"/>
            </a:solidFill>
            <a:prstDash val="solid"/>
          </a:ln>
        </p:spPr>
        <p:txBody>
          <a:bodyPr/>
          <a:lstStyle/>
          <a:p>
            <a:endParaRPr lang="en-US"/>
          </a:p>
        </p:txBody>
      </p:sp>
      <p:sp>
        <p:nvSpPr>
          <p:cNvPr id="13" name="Text 11"/>
          <p:cNvSpPr txBox="1"/>
          <p:nvPr/>
        </p:nvSpPr>
        <p:spPr>
          <a:xfrm>
            <a:off x="6400800" y="3337560"/>
            <a:ext cx="4937760" cy="914400"/>
          </a:xfrm>
          <a:prstGeom prst="rect">
            <a:avLst/>
          </a:prstGeom>
          <a:noFill/>
          <a:ln/>
        </p:spPr>
        <p:txBody>
          <a:bodyPr wrap="square" rtlCol="0" anchor="ctr"/>
          <a:lstStyle/>
          <a:p>
            <a:pPr marL="0" indent="0">
              <a:buNone/>
            </a:pPr>
            <a:r>
              <a:rPr lang="en-US" sz="1450" dirty="0">
                <a:solidFill>
                  <a:srgbClr val="0A1628"/>
                </a:solidFill>
                <a:latin typeface="Calibri" pitchFamily="34" charset="0"/>
                <a:ea typeface="Calibri" pitchFamily="34" charset="-122"/>
                <a:cs typeface="Calibri" pitchFamily="34" charset="-120"/>
              </a:rPr>
              <a:t>Dicen CÓMO configurar cada sistema, paso a paso. Es lo que usaremos.</a:t>
            </a:r>
            <a:endParaRPr lang="en-US" sz="1450" dirty="0"/>
          </a:p>
        </p:txBody>
      </p:sp>
      <p:sp>
        <p:nvSpPr>
          <p:cNvPr id="14" name="Shape 12"/>
          <p:cNvSpPr/>
          <p:nvPr/>
        </p:nvSpPr>
        <p:spPr>
          <a:xfrm>
            <a:off x="548640" y="4572000"/>
            <a:ext cx="11064240" cy="1234440"/>
          </a:xfrm>
          <a:prstGeom prst="roundRect">
            <a:avLst>
              <a:gd name="adj" fmla="val 7407"/>
            </a:avLst>
          </a:prstGeom>
          <a:solidFill>
            <a:srgbClr val="FFB703"/>
          </a:solidFill>
          <a:ln w="12700">
            <a:solidFill>
              <a:srgbClr val="D8E3EC"/>
            </a:solidFill>
            <a:prstDash val="solid"/>
          </a:ln>
        </p:spPr>
        <p:txBody>
          <a:bodyPr/>
          <a:lstStyle/>
          <a:p>
            <a:endParaRPr lang="en-US"/>
          </a:p>
        </p:txBody>
      </p:sp>
      <p:sp>
        <p:nvSpPr>
          <p:cNvPr id="15" name="Text 13"/>
          <p:cNvSpPr txBox="1"/>
          <p:nvPr/>
        </p:nvSpPr>
        <p:spPr>
          <a:xfrm>
            <a:off x="914400" y="4736592"/>
            <a:ext cx="4754880" cy="457200"/>
          </a:xfrm>
          <a:prstGeom prst="rect">
            <a:avLst/>
          </a:prstGeom>
          <a:noFill/>
          <a:ln/>
        </p:spPr>
        <p:txBody>
          <a:bodyPr wrap="square" rtlCol="0" anchor="ctr"/>
          <a:lstStyle/>
          <a:p>
            <a:pPr marL="0" indent="0">
              <a:buNone/>
            </a:pPr>
            <a:r>
              <a:rPr lang="en-US" sz="2100" b="1" dirty="0">
                <a:solidFill>
                  <a:srgbClr val="0A1628"/>
                </a:solidFill>
                <a:latin typeface="Calibri" pitchFamily="34" charset="0"/>
                <a:ea typeface="Calibri" pitchFamily="34" charset="-122"/>
                <a:cs typeface="Calibri" pitchFamily="34" charset="-120"/>
              </a:rPr>
              <a:t>PCI DSS</a:t>
            </a:r>
            <a:endParaRPr lang="en-US" sz="2100" dirty="0"/>
          </a:p>
        </p:txBody>
      </p:sp>
      <p:sp>
        <p:nvSpPr>
          <p:cNvPr id="16" name="Text 14"/>
          <p:cNvSpPr txBox="1"/>
          <p:nvPr/>
        </p:nvSpPr>
        <p:spPr>
          <a:xfrm>
            <a:off x="914400" y="5257800"/>
            <a:ext cx="4754880" cy="365760"/>
          </a:xfrm>
          <a:prstGeom prst="rect">
            <a:avLst/>
          </a:prstGeom>
          <a:noFill/>
          <a:ln/>
        </p:spPr>
        <p:txBody>
          <a:bodyPr wrap="square" rtlCol="0" anchor="ctr"/>
          <a:lstStyle/>
          <a:p>
            <a:pPr marL="0" indent="0">
              <a:buNone/>
            </a:pPr>
            <a:r>
              <a:rPr lang="en-US" sz="1100" b="1" kern="0" spc="200" dirty="0">
                <a:solidFill>
                  <a:srgbClr val="0A1628"/>
                </a:solidFill>
                <a:latin typeface="Calibri" pitchFamily="34" charset="0"/>
                <a:ea typeface="Calibri" pitchFamily="34" charset="-122"/>
                <a:cs typeface="Calibri" pitchFamily="34" charset="-120"/>
              </a:rPr>
              <a:t>CASO REGULADO</a:t>
            </a:r>
            <a:endParaRPr lang="en-US" sz="1100" dirty="0"/>
          </a:p>
        </p:txBody>
      </p:sp>
      <p:sp>
        <p:nvSpPr>
          <p:cNvPr id="17" name="Shape 15"/>
          <p:cNvSpPr/>
          <p:nvPr/>
        </p:nvSpPr>
        <p:spPr>
          <a:xfrm>
            <a:off x="6035040" y="4800600"/>
            <a:ext cx="0" cy="777240"/>
          </a:xfrm>
          <a:prstGeom prst="line">
            <a:avLst/>
          </a:prstGeom>
          <a:noFill/>
          <a:ln w="12700">
            <a:solidFill>
              <a:srgbClr val="C98C00"/>
            </a:solidFill>
            <a:prstDash val="solid"/>
          </a:ln>
        </p:spPr>
        <p:txBody>
          <a:bodyPr/>
          <a:lstStyle/>
          <a:p>
            <a:endParaRPr lang="en-US"/>
          </a:p>
        </p:txBody>
      </p:sp>
      <p:sp>
        <p:nvSpPr>
          <p:cNvPr id="18" name="Text 16"/>
          <p:cNvSpPr txBox="1"/>
          <p:nvPr/>
        </p:nvSpPr>
        <p:spPr>
          <a:xfrm>
            <a:off x="6400800" y="4754880"/>
            <a:ext cx="4937760" cy="914400"/>
          </a:xfrm>
          <a:prstGeom prst="rect">
            <a:avLst/>
          </a:prstGeom>
          <a:noFill/>
          <a:ln/>
        </p:spPr>
        <p:txBody>
          <a:bodyPr wrap="square" rtlCol="0" anchor="ctr"/>
          <a:lstStyle/>
          <a:p>
            <a:pPr marL="0" indent="0">
              <a:buNone/>
            </a:pPr>
            <a:r>
              <a:rPr lang="en-US" sz="1450" dirty="0">
                <a:solidFill>
                  <a:srgbClr val="0A1628"/>
                </a:solidFill>
                <a:latin typeface="Calibri" pitchFamily="34" charset="0"/>
                <a:ea typeface="Calibri" pitchFamily="34" charset="-122"/>
                <a:cs typeface="Calibri" pitchFamily="34" charset="-120"/>
              </a:rPr>
              <a:t>Obligatorio cuando se procesan tarjetas de pago. Mezcla el qué y el cómo.</a:t>
            </a:r>
            <a:endParaRPr lang="en-US" sz="145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REFERENCIA RÁPIDA</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Los cuatro marcos, en una frase</a:t>
            </a:r>
            <a:endParaRPr lang="en-US" sz="3200" dirty="0"/>
          </a:p>
        </p:txBody>
      </p:sp>
      <p:sp>
        <p:nvSpPr>
          <p:cNvPr id="4" name="Shape 2"/>
          <p:cNvSpPr/>
          <p:nvPr/>
        </p:nvSpPr>
        <p:spPr>
          <a:xfrm>
            <a:off x="548640" y="1783080"/>
            <a:ext cx="5349240" cy="1920240"/>
          </a:xfrm>
          <a:prstGeom prst="roundRect">
            <a:avLst>
              <a:gd name="adj" fmla="val 4762"/>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868680" y="2103120"/>
            <a:ext cx="713232" cy="713232"/>
          </a:xfrm>
          <a:prstGeom prst="ellipse">
            <a:avLst/>
          </a:prstGeom>
          <a:solidFill>
            <a:srgbClr val="0077B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54120" y="2288560"/>
            <a:ext cx="342351" cy="342351"/>
          </a:xfrm>
          <a:prstGeom prst="rect">
            <a:avLst/>
          </a:prstGeom>
        </p:spPr>
      </p:pic>
      <p:sp>
        <p:nvSpPr>
          <p:cNvPr id="7" name="Text 4"/>
          <p:cNvSpPr txBox="1"/>
          <p:nvPr/>
        </p:nvSpPr>
        <p:spPr>
          <a:xfrm>
            <a:off x="1783080" y="2057400"/>
            <a:ext cx="3931920" cy="457200"/>
          </a:xfrm>
          <a:prstGeom prst="rect">
            <a:avLst/>
          </a:prstGeom>
          <a:noFill/>
          <a:ln/>
        </p:spPr>
        <p:txBody>
          <a:bodyPr wrap="square" rtlCol="0" anchor="ctr"/>
          <a:lstStyle/>
          <a:p>
            <a:pPr marL="0" indent="0">
              <a:buNone/>
            </a:pPr>
            <a:r>
              <a:rPr lang="en-US" sz="1700" b="1" dirty="0">
                <a:solidFill>
                  <a:srgbClr val="0A1628"/>
                </a:solidFill>
                <a:latin typeface="Calibri" pitchFamily="34" charset="0"/>
                <a:ea typeface="Calibri" pitchFamily="34" charset="-122"/>
                <a:cs typeface="Calibri" pitchFamily="34" charset="-120"/>
              </a:rPr>
              <a:t>ISO/IEC 45001 &amp; 27001 · 27002</a:t>
            </a:r>
            <a:endParaRPr lang="en-US" sz="1700" dirty="0"/>
          </a:p>
        </p:txBody>
      </p:sp>
      <p:sp>
        <p:nvSpPr>
          <p:cNvPr id="8" name="Shape 5"/>
          <p:cNvSpPr/>
          <p:nvPr/>
        </p:nvSpPr>
        <p:spPr>
          <a:xfrm>
            <a:off x="1783080" y="2496312"/>
            <a:ext cx="2011680" cy="292608"/>
          </a:xfrm>
          <a:prstGeom prst="roundRect">
            <a:avLst>
              <a:gd name="adj" fmla="val 50000"/>
            </a:avLst>
          </a:prstGeom>
          <a:solidFill>
            <a:srgbClr val="0077B6"/>
          </a:solidFill>
          <a:ln/>
        </p:spPr>
        <p:txBody>
          <a:bodyPr/>
          <a:lstStyle/>
          <a:p>
            <a:endParaRPr lang="en-US"/>
          </a:p>
        </p:txBody>
      </p:sp>
      <p:sp>
        <p:nvSpPr>
          <p:cNvPr id="9" name="Text 6"/>
          <p:cNvSpPr txBox="1"/>
          <p:nvPr/>
        </p:nvSpPr>
        <p:spPr>
          <a:xfrm>
            <a:off x="1783080" y="2496312"/>
            <a:ext cx="2011680" cy="292608"/>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QUÉ · Gobierno</a:t>
            </a:r>
            <a:endParaRPr lang="en-US" sz="900" dirty="0"/>
          </a:p>
        </p:txBody>
      </p:sp>
      <p:sp>
        <p:nvSpPr>
          <p:cNvPr id="10" name="Text 7"/>
          <p:cNvSpPr txBox="1"/>
          <p:nvPr/>
        </p:nvSpPr>
        <p:spPr>
          <a:xfrm>
            <a:off x="914400" y="2880360"/>
            <a:ext cx="4754880" cy="749808"/>
          </a:xfrm>
          <a:prstGeom prst="rect">
            <a:avLst/>
          </a:prstGeom>
          <a:noFill/>
          <a:ln/>
        </p:spPr>
        <p:txBody>
          <a:bodyPr wrap="square" rtlCol="0" anchor="t"/>
          <a:lstStyle/>
          <a:p>
            <a:pPr marL="0" indent="0">
              <a:buNone/>
            </a:pPr>
            <a:r>
              <a:rPr lang="en-US" sz="1300" dirty="0">
                <a:solidFill>
                  <a:srgbClr val="33465A"/>
                </a:solidFill>
                <a:latin typeface="Calibri" pitchFamily="34" charset="0"/>
                <a:ea typeface="Calibri" pitchFamily="34" charset="-122"/>
                <a:cs typeface="Calibri" pitchFamily="34" charset="-120"/>
              </a:rPr>
              <a:t>Sistema de gestión de seguridad de la información (SGSI). El 27002 detalla los controles.</a:t>
            </a:r>
            <a:endParaRPr lang="en-US" sz="1300" dirty="0"/>
          </a:p>
        </p:txBody>
      </p:sp>
      <p:sp>
        <p:nvSpPr>
          <p:cNvPr id="11" name="Shape 8"/>
          <p:cNvSpPr/>
          <p:nvPr/>
        </p:nvSpPr>
        <p:spPr>
          <a:xfrm>
            <a:off x="6263640" y="1783080"/>
            <a:ext cx="5349240" cy="1920240"/>
          </a:xfrm>
          <a:prstGeom prst="roundRect">
            <a:avLst>
              <a:gd name="adj" fmla="val 4762"/>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2" name="Shape 9"/>
          <p:cNvSpPr/>
          <p:nvPr/>
        </p:nvSpPr>
        <p:spPr>
          <a:xfrm>
            <a:off x="6583680" y="2103120"/>
            <a:ext cx="713232" cy="713232"/>
          </a:xfrm>
          <a:prstGeom prst="ellipse">
            <a:avLst/>
          </a:prstGeom>
          <a:solidFill>
            <a:srgbClr val="0077B6"/>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769120" y="2288560"/>
            <a:ext cx="342351" cy="342351"/>
          </a:xfrm>
          <a:prstGeom prst="rect">
            <a:avLst/>
          </a:prstGeom>
        </p:spPr>
      </p:pic>
      <p:sp>
        <p:nvSpPr>
          <p:cNvPr id="14" name="Text 10"/>
          <p:cNvSpPr txBox="1"/>
          <p:nvPr/>
        </p:nvSpPr>
        <p:spPr>
          <a:xfrm>
            <a:off x="7498080" y="2057400"/>
            <a:ext cx="3931920" cy="457200"/>
          </a:xfrm>
          <a:prstGeom prst="rect">
            <a:avLst/>
          </a:prstGeom>
          <a:noFill/>
          <a:ln/>
        </p:spPr>
        <p:txBody>
          <a:bodyPr wrap="square" rtlCol="0" anchor="ctr"/>
          <a:lstStyle/>
          <a:p>
            <a:pPr marL="0" indent="0">
              <a:buNone/>
            </a:pPr>
            <a:r>
              <a:rPr lang="en-US" sz="1700" b="1" dirty="0">
                <a:solidFill>
                  <a:srgbClr val="0A1628"/>
                </a:solidFill>
                <a:latin typeface="Calibri" pitchFamily="34" charset="0"/>
                <a:ea typeface="Calibri" pitchFamily="34" charset="-122"/>
                <a:cs typeface="Calibri" pitchFamily="34" charset="-120"/>
              </a:rPr>
              <a:t>NIST (CSF / 800-53)</a:t>
            </a:r>
            <a:endParaRPr lang="en-US" sz="1700" dirty="0"/>
          </a:p>
        </p:txBody>
      </p:sp>
      <p:sp>
        <p:nvSpPr>
          <p:cNvPr id="15" name="Shape 11"/>
          <p:cNvSpPr/>
          <p:nvPr/>
        </p:nvSpPr>
        <p:spPr>
          <a:xfrm>
            <a:off x="7498080" y="2496312"/>
            <a:ext cx="2011680" cy="292608"/>
          </a:xfrm>
          <a:prstGeom prst="roundRect">
            <a:avLst>
              <a:gd name="adj" fmla="val 50000"/>
            </a:avLst>
          </a:prstGeom>
          <a:solidFill>
            <a:srgbClr val="0077B6"/>
          </a:solidFill>
          <a:ln/>
        </p:spPr>
        <p:txBody>
          <a:bodyPr/>
          <a:lstStyle/>
          <a:p>
            <a:endParaRPr lang="en-US"/>
          </a:p>
        </p:txBody>
      </p:sp>
      <p:sp>
        <p:nvSpPr>
          <p:cNvPr id="16" name="Text 12"/>
          <p:cNvSpPr txBox="1"/>
          <p:nvPr/>
        </p:nvSpPr>
        <p:spPr>
          <a:xfrm>
            <a:off x="7498080" y="2496312"/>
            <a:ext cx="2011680" cy="292608"/>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QUÉ · Gobierno</a:t>
            </a:r>
            <a:endParaRPr lang="en-US" sz="900" dirty="0"/>
          </a:p>
        </p:txBody>
      </p:sp>
      <p:sp>
        <p:nvSpPr>
          <p:cNvPr id="17" name="Text 13"/>
          <p:cNvSpPr txBox="1"/>
          <p:nvPr/>
        </p:nvSpPr>
        <p:spPr>
          <a:xfrm>
            <a:off x="6629400" y="2880360"/>
            <a:ext cx="4754880" cy="749808"/>
          </a:xfrm>
          <a:prstGeom prst="rect">
            <a:avLst/>
          </a:prstGeom>
          <a:noFill/>
          <a:ln/>
        </p:spPr>
        <p:txBody>
          <a:bodyPr wrap="square" rtlCol="0" anchor="t"/>
          <a:lstStyle/>
          <a:p>
            <a:pPr marL="0" indent="0">
              <a:buNone/>
            </a:pPr>
            <a:r>
              <a:rPr lang="en-US" sz="1300" dirty="0">
                <a:solidFill>
                  <a:srgbClr val="33465A"/>
                </a:solidFill>
                <a:latin typeface="Calibri" pitchFamily="34" charset="0"/>
                <a:ea typeface="Calibri" pitchFamily="34" charset="-122"/>
                <a:cs typeface="Calibri" pitchFamily="34" charset="-120"/>
              </a:rPr>
              <a:t>Marco de EE. UU. muy usado: Identificar, Proteger, Detectar, Responder, Recuperar.</a:t>
            </a:r>
            <a:endParaRPr lang="en-US" sz="1300" dirty="0"/>
          </a:p>
        </p:txBody>
      </p:sp>
      <p:sp>
        <p:nvSpPr>
          <p:cNvPr id="18" name="Shape 14"/>
          <p:cNvSpPr/>
          <p:nvPr/>
        </p:nvSpPr>
        <p:spPr>
          <a:xfrm>
            <a:off x="548640" y="3931920"/>
            <a:ext cx="5349240" cy="1920240"/>
          </a:xfrm>
          <a:prstGeom prst="roundRect">
            <a:avLst>
              <a:gd name="adj" fmla="val 4762"/>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9" name="Shape 15"/>
          <p:cNvSpPr/>
          <p:nvPr/>
        </p:nvSpPr>
        <p:spPr>
          <a:xfrm>
            <a:off x="868680" y="4251960"/>
            <a:ext cx="713232" cy="713232"/>
          </a:xfrm>
          <a:prstGeom prst="ellipse">
            <a:avLst/>
          </a:prstGeom>
          <a:solidFill>
            <a:srgbClr val="00B4D8"/>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1054120" y="4437400"/>
            <a:ext cx="342351" cy="342351"/>
          </a:xfrm>
          <a:prstGeom prst="rect">
            <a:avLst/>
          </a:prstGeom>
        </p:spPr>
      </p:pic>
      <p:sp>
        <p:nvSpPr>
          <p:cNvPr id="21" name="Text 16"/>
          <p:cNvSpPr txBox="1"/>
          <p:nvPr/>
        </p:nvSpPr>
        <p:spPr>
          <a:xfrm>
            <a:off x="1783080" y="4206240"/>
            <a:ext cx="3931920" cy="457200"/>
          </a:xfrm>
          <a:prstGeom prst="rect">
            <a:avLst/>
          </a:prstGeom>
          <a:noFill/>
          <a:ln/>
        </p:spPr>
        <p:txBody>
          <a:bodyPr wrap="square" rtlCol="0" anchor="ctr"/>
          <a:lstStyle/>
          <a:p>
            <a:pPr marL="0" indent="0">
              <a:buNone/>
            </a:pPr>
            <a:r>
              <a:rPr lang="en-US" sz="1700" b="1" dirty="0">
                <a:solidFill>
                  <a:srgbClr val="0A1628"/>
                </a:solidFill>
                <a:latin typeface="Calibri" pitchFamily="34" charset="0"/>
                <a:ea typeface="Calibri" pitchFamily="34" charset="-122"/>
                <a:cs typeface="Calibri" pitchFamily="34" charset="-120"/>
              </a:rPr>
              <a:t>CIS Controls &amp; Benchmarks</a:t>
            </a:r>
            <a:endParaRPr lang="en-US" sz="1700" dirty="0"/>
          </a:p>
        </p:txBody>
      </p:sp>
      <p:sp>
        <p:nvSpPr>
          <p:cNvPr id="22" name="Shape 17"/>
          <p:cNvSpPr/>
          <p:nvPr/>
        </p:nvSpPr>
        <p:spPr>
          <a:xfrm>
            <a:off x="1783080" y="4645152"/>
            <a:ext cx="2011680" cy="292608"/>
          </a:xfrm>
          <a:prstGeom prst="roundRect">
            <a:avLst>
              <a:gd name="adj" fmla="val 50000"/>
            </a:avLst>
          </a:prstGeom>
          <a:solidFill>
            <a:srgbClr val="00B4D8"/>
          </a:solidFill>
          <a:ln/>
        </p:spPr>
        <p:txBody>
          <a:bodyPr/>
          <a:lstStyle/>
          <a:p>
            <a:endParaRPr lang="en-US"/>
          </a:p>
        </p:txBody>
      </p:sp>
      <p:sp>
        <p:nvSpPr>
          <p:cNvPr id="23" name="Text 18"/>
          <p:cNvSpPr txBox="1"/>
          <p:nvPr/>
        </p:nvSpPr>
        <p:spPr>
          <a:xfrm>
            <a:off x="1783080" y="4645152"/>
            <a:ext cx="2011680" cy="292608"/>
          </a:xfrm>
          <a:prstGeom prst="rect">
            <a:avLst/>
          </a:prstGeom>
          <a:noFill/>
          <a:ln/>
        </p:spPr>
        <p:txBody>
          <a:bodyPr wrap="square" rtlCol="0" anchor="ctr"/>
          <a:lstStyle/>
          <a:p>
            <a:pPr marL="0" indent="0" algn="ctr">
              <a:buNone/>
            </a:pPr>
            <a:r>
              <a:rPr lang="en-US" sz="900" b="1" kern="0" spc="100" dirty="0">
                <a:solidFill>
                  <a:srgbClr val="0A1628"/>
                </a:solidFill>
                <a:latin typeface="Calibri" pitchFamily="34" charset="0"/>
                <a:ea typeface="Calibri" pitchFamily="34" charset="-122"/>
                <a:cs typeface="Calibri" pitchFamily="34" charset="-120"/>
              </a:rPr>
              <a:t>CÓMO · Técnico</a:t>
            </a:r>
            <a:endParaRPr lang="en-US" sz="900" dirty="0"/>
          </a:p>
        </p:txBody>
      </p:sp>
      <p:sp>
        <p:nvSpPr>
          <p:cNvPr id="24" name="Text 19"/>
          <p:cNvSpPr txBox="1"/>
          <p:nvPr/>
        </p:nvSpPr>
        <p:spPr>
          <a:xfrm>
            <a:off x="914400" y="5029200"/>
            <a:ext cx="4754880" cy="749808"/>
          </a:xfrm>
          <a:prstGeom prst="rect">
            <a:avLst/>
          </a:prstGeom>
          <a:noFill/>
          <a:ln/>
        </p:spPr>
        <p:txBody>
          <a:bodyPr wrap="square" rtlCol="0" anchor="t"/>
          <a:lstStyle/>
          <a:p>
            <a:pPr marL="0" indent="0">
              <a:buNone/>
            </a:pPr>
            <a:r>
              <a:rPr lang="en-US" sz="1300" dirty="0">
                <a:solidFill>
                  <a:srgbClr val="33465A"/>
                </a:solidFill>
                <a:latin typeface="Calibri" pitchFamily="34" charset="0"/>
                <a:ea typeface="Calibri" pitchFamily="34" charset="-122"/>
                <a:cs typeface="Calibri" pitchFamily="34" charset="-120"/>
              </a:rPr>
              <a:t>Guías de configuración concretas por tecnología. El corazón práctico del curso.</a:t>
            </a:r>
            <a:endParaRPr lang="en-US" sz="1300" dirty="0"/>
          </a:p>
        </p:txBody>
      </p:sp>
      <p:sp>
        <p:nvSpPr>
          <p:cNvPr id="25" name="Shape 20"/>
          <p:cNvSpPr/>
          <p:nvPr/>
        </p:nvSpPr>
        <p:spPr>
          <a:xfrm>
            <a:off x="6263640" y="3931920"/>
            <a:ext cx="5349240" cy="1920240"/>
          </a:xfrm>
          <a:prstGeom prst="roundRect">
            <a:avLst>
              <a:gd name="adj" fmla="val 4762"/>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26" name="Shape 21"/>
          <p:cNvSpPr/>
          <p:nvPr/>
        </p:nvSpPr>
        <p:spPr>
          <a:xfrm>
            <a:off x="6583680" y="4251960"/>
            <a:ext cx="713232" cy="713232"/>
          </a:xfrm>
          <a:prstGeom prst="ellipse">
            <a:avLst/>
          </a:prstGeom>
          <a:solidFill>
            <a:srgbClr val="FFB703"/>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6769120" y="4437400"/>
            <a:ext cx="342351" cy="342351"/>
          </a:xfrm>
          <a:prstGeom prst="rect">
            <a:avLst/>
          </a:prstGeom>
        </p:spPr>
      </p:pic>
      <p:sp>
        <p:nvSpPr>
          <p:cNvPr id="28" name="Text 22"/>
          <p:cNvSpPr txBox="1"/>
          <p:nvPr/>
        </p:nvSpPr>
        <p:spPr>
          <a:xfrm>
            <a:off x="7498080" y="4206240"/>
            <a:ext cx="3931920" cy="457200"/>
          </a:xfrm>
          <a:prstGeom prst="rect">
            <a:avLst/>
          </a:prstGeom>
          <a:noFill/>
          <a:ln/>
        </p:spPr>
        <p:txBody>
          <a:bodyPr wrap="square" rtlCol="0" anchor="ctr"/>
          <a:lstStyle/>
          <a:p>
            <a:pPr marL="0" indent="0">
              <a:buNone/>
            </a:pPr>
            <a:r>
              <a:rPr lang="en-US" sz="1700" b="1" dirty="0">
                <a:solidFill>
                  <a:srgbClr val="0A1628"/>
                </a:solidFill>
                <a:latin typeface="Calibri" pitchFamily="34" charset="0"/>
                <a:ea typeface="Calibri" pitchFamily="34" charset="-122"/>
                <a:cs typeface="Calibri" pitchFamily="34" charset="-120"/>
              </a:rPr>
              <a:t>PCI DSS</a:t>
            </a:r>
            <a:endParaRPr lang="en-US" sz="1700" dirty="0"/>
          </a:p>
        </p:txBody>
      </p:sp>
      <p:sp>
        <p:nvSpPr>
          <p:cNvPr id="29" name="Shape 23"/>
          <p:cNvSpPr/>
          <p:nvPr/>
        </p:nvSpPr>
        <p:spPr>
          <a:xfrm>
            <a:off x="7498080" y="4645152"/>
            <a:ext cx="2011680" cy="292608"/>
          </a:xfrm>
          <a:prstGeom prst="roundRect">
            <a:avLst>
              <a:gd name="adj" fmla="val 50000"/>
            </a:avLst>
          </a:prstGeom>
          <a:solidFill>
            <a:srgbClr val="FFB703"/>
          </a:solidFill>
          <a:ln/>
        </p:spPr>
        <p:txBody>
          <a:bodyPr/>
          <a:lstStyle/>
          <a:p>
            <a:endParaRPr lang="en-US"/>
          </a:p>
        </p:txBody>
      </p:sp>
      <p:sp>
        <p:nvSpPr>
          <p:cNvPr id="30" name="Text 24"/>
          <p:cNvSpPr txBox="1"/>
          <p:nvPr/>
        </p:nvSpPr>
        <p:spPr>
          <a:xfrm>
            <a:off x="7498080" y="4645152"/>
            <a:ext cx="2011680" cy="292608"/>
          </a:xfrm>
          <a:prstGeom prst="rect">
            <a:avLst/>
          </a:prstGeom>
          <a:noFill/>
          <a:ln/>
        </p:spPr>
        <p:txBody>
          <a:bodyPr wrap="square" rtlCol="0" anchor="ctr"/>
          <a:lstStyle/>
          <a:p>
            <a:pPr marL="0" indent="0" algn="ctr">
              <a:buNone/>
            </a:pPr>
            <a:r>
              <a:rPr lang="en-US" sz="900" b="1" kern="0" spc="100" dirty="0">
                <a:solidFill>
                  <a:srgbClr val="0A1628"/>
                </a:solidFill>
                <a:latin typeface="Calibri" pitchFamily="34" charset="0"/>
                <a:ea typeface="Calibri" pitchFamily="34" charset="-122"/>
                <a:cs typeface="Calibri" pitchFamily="34" charset="-120"/>
              </a:rPr>
              <a:t>Caso regulado</a:t>
            </a:r>
            <a:endParaRPr lang="en-US" sz="900" dirty="0"/>
          </a:p>
        </p:txBody>
      </p:sp>
      <p:sp>
        <p:nvSpPr>
          <p:cNvPr id="31" name="Text 25"/>
          <p:cNvSpPr txBox="1"/>
          <p:nvPr/>
        </p:nvSpPr>
        <p:spPr>
          <a:xfrm>
            <a:off x="6629400" y="5029200"/>
            <a:ext cx="4754880" cy="749808"/>
          </a:xfrm>
          <a:prstGeom prst="rect">
            <a:avLst/>
          </a:prstGeom>
          <a:noFill/>
          <a:ln/>
        </p:spPr>
        <p:txBody>
          <a:bodyPr wrap="square" rtlCol="0" anchor="t"/>
          <a:lstStyle/>
          <a:p>
            <a:pPr marL="0" indent="0">
              <a:buNone/>
            </a:pPr>
            <a:r>
              <a:rPr lang="en-US" sz="1300" dirty="0">
                <a:solidFill>
                  <a:srgbClr val="33465A"/>
                </a:solidFill>
                <a:latin typeface="Calibri" pitchFamily="34" charset="0"/>
                <a:ea typeface="Calibri" pitchFamily="34" charset="-122"/>
                <a:cs typeface="Calibri" pitchFamily="34" charset="-120"/>
              </a:rPr>
              <a:t>Estándar obligatorio para quien procesa tarjetas de pago. Muy prescriptivo.</a:t>
            </a:r>
            <a:endParaRPr lang="en-US" sz="1300" dirty="0"/>
          </a:p>
        </p:txBody>
      </p:sp>
      <p:sp>
        <p:nvSpPr>
          <p:cNvPr id="32"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263F"/>
          </a:solidFill>
          <a:ln/>
        </p:spPr>
        <p:txBody>
          <a:bodyPr/>
          <a:lstStyle/>
          <a:p>
            <a:endParaRPr lang="en-US"/>
          </a:p>
        </p:txBody>
      </p:sp>
      <p:sp>
        <p:nvSpPr>
          <p:cNvPr id="3" name="Text 1"/>
          <p:cNvSpPr txBox="1"/>
          <p:nvPr/>
        </p:nvSpPr>
        <p:spPr>
          <a:xfrm>
            <a:off x="640080" y="1554480"/>
            <a:ext cx="2743200" cy="1463040"/>
          </a:xfrm>
          <a:prstGeom prst="rect">
            <a:avLst/>
          </a:prstGeom>
          <a:noFill/>
          <a:ln/>
        </p:spPr>
        <p:txBody>
          <a:bodyPr wrap="square" rtlCol="0" anchor="ctr"/>
          <a:lstStyle/>
          <a:p>
            <a:pPr marL="0" indent="0">
              <a:buNone/>
            </a:pPr>
            <a:r>
              <a:rPr lang="en-US" sz="9000" b="1" dirty="0">
                <a:solidFill>
                  <a:srgbClr val="1C3354"/>
                </a:solidFill>
                <a:latin typeface="Calibri" pitchFamily="34" charset="0"/>
                <a:ea typeface="Calibri" pitchFamily="34" charset="-122"/>
                <a:cs typeface="Calibri" pitchFamily="34" charset="-120"/>
              </a:rPr>
              <a:t>03</a:t>
            </a:r>
            <a:endParaRPr lang="en-US" sz="9000" dirty="0"/>
          </a:p>
        </p:txBody>
      </p:sp>
      <p:sp>
        <p:nvSpPr>
          <p:cNvPr id="4" name="Shape 2"/>
          <p:cNvSpPr/>
          <p:nvPr/>
        </p:nvSpPr>
        <p:spPr>
          <a:xfrm>
            <a:off x="731520" y="3200400"/>
            <a:ext cx="2011680" cy="0"/>
          </a:xfrm>
          <a:prstGeom prst="line">
            <a:avLst/>
          </a:prstGeom>
          <a:noFill/>
          <a:ln w="38100">
            <a:solidFill>
              <a:srgbClr val="00B4D8"/>
            </a:solidFill>
            <a:prstDash val="solid"/>
          </a:ln>
        </p:spPr>
        <p:txBody>
          <a:bodyPr/>
          <a:lstStyle/>
          <a:p>
            <a:endParaRPr lang="en-US"/>
          </a:p>
        </p:txBody>
      </p:sp>
      <p:sp>
        <p:nvSpPr>
          <p:cNvPr id="5" name="Text 3"/>
          <p:cNvSpPr txBox="1"/>
          <p:nvPr/>
        </p:nvSpPr>
        <p:spPr>
          <a:xfrm>
            <a:off x="685800" y="3383280"/>
            <a:ext cx="9144000" cy="10058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La línea base</a:t>
            </a:r>
            <a:endParaRPr lang="en-US" sz="4000" dirty="0"/>
          </a:p>
        </p:txBody>
      </p:sp>
      <p:sp>
        <p:nvSpPr>
          <p:cNvPr id="6" name="Text 4"/>
          <p:cNvSpPr txBox="1"/>
          <p:nvPr/>
        </p:nvSpPr>
        <p:spPr>
          <a:xfrm>
            <a:off x="731520" y="4480560"/>
            <a:ext cx="8686800" cy="640080"/>
          </a:xfrm>
          <a:prstGeom prst="rect">
            <a:avLst/>
          </a:prstGeom>
          <a:noFill/>
          <a:ln/>
        </p:spPr>
        <p:txBody>
          <a:bodyPr wrap="square" rtlCol="0" anchor="ctr"/>
          <a:lstStyle/>
          <a:p>
            <a:pPr marL="0" indent="0">
              <a:buNone/>
            </a:pPr>
            <a:r>
              <a:rPr lang="en-US" sz="1600" dirty="0">
                <a:solidFill>
                  <a:srgbClr val="90E0EF"/>
                </a:solidFill>
                <a:latin typeface="Calibri" pitchFamily="34" charset="0"/>
                <a:ea typeface="Calibri" pitchFamily="34" charset="-122"/>
                <a:cs typeface="Calibri" pitchFamily="34" charset="-120"/>
              </a:rPr>
              <a:t>El artefacto vivo que conecta las 8 clases: medir, endurecer, re-medir.</a:t>
            </a:r>
            <a:endParaRPr lang="en-US" sz="1600" dirty="0"/>
          </a:p>
        </p:txBody>
      </p:sp>
      <p:sp>
        <p:nvSpPr>
          <p:cNvPr id="7" name="Shape 5"/>
          <p:cNvSpPr/>
          <p:nvPr/>
        </p:nvSpPr>
        <p:spPr>
          <a:xfrm>
            <a:off x="10058400" y="3931920"/>
            <a:ext cx="1371600" cy="1371600"/>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15016" y="4288536"/>
            <a:ext cx="658368" cy="6583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DEFINICIÓN</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Línea base (baseline) de seguridad</a:t>
            </a:r>
            <a:endParaRPr lang="en-US" sz="3200" dirty="0"/>
          </a:p>
        </p:txBody>
      </p:sp>
      <p:sp>
        <p:nvSpPr>
          <p:cNvPr id="4" name="Shape 2"/>
          <p:cNvSpPr/>
          <p:nvPr/>
        </p:nvSpPr>
        <p:spPr>
          <a:xfrm>
            <a:off x="548640" y="1783080"/>
            <a:ext cx="5577840" cy="4114800"/>
          </a:xfrm>
          <a:prstGeom prst="roundRect">
            <a:avLst>
              <a:gd name="adj" fmla="val 2222"/>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868680" y="2103120"/>
            <a:ext cx="868680" cy="868680"/>
          </a:xfrm>
          <a:prstGeom prst="ellipse">
            <a:avLst/>
          </a:prstGeom>
          <a:solidFill>
            <a:srgbClr val="00B4D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4537" y="2328977"/>
            <a:ext cx="416966" cy="416966"/>
          </a:xfrm>
          <a:prstGeom prst="rect">
            <a:avLst/>
          </a:prstGeom>
        </p:spPr>
      </p:pic>
      <p:sp>
        <p:nvSpPr>
          <p:cNvPr id="7" name="Text 4"/>
          <p:cNvSpPr txBox="1"/>
          <p:nvPr/>
        </p:nvSpPr>
        <p:spPr>
          <a:xfrm>
            <a:off x="868680" y="3154680"/>
            <a:ext cx="4937760" cy="1097280"/>
          </a:xfrm>
          <a:prstGeom prst="rect">
            <a:avLst/>
          </a:prstGeom>
          <a:noFill/>
          <a:ln/>
        </p:spPr>
        <p:txBody>
          <a:bodyPr wrap="square" rtlCol="0" anchor="ctr"/>
          <a:lstStyle/>
          <a:p>
            <a:pPr marL="0" indent="0">
              <a:lnSpc>
                <a:spcPct val="105000"/>
              </a:lnSpc>
              <a:buNone/>
            </a:pPr>
            <a:r>
              <a:rPr lang="en-US" sz="1600" dirty="0">
                <a:solidFill>
                  <a:srgbClr val="0A1628"/>
                </a:solidFill>
                <a:latin typeface="Calibri" pitchFamily="34" charset="0"/>
                <a:ea typeface="Calibri" pitchFamily="34" charset="-122"/>
                <a:cs typeface="Calibri" pitchFamily="34" charset="-120"/>
              </a:rPr>
              <a:t>El conjunto mínimo de configuraciones de seguridad que un sistema debe cumplir — y, sobre todo, algo que se puede medir.</a:t>
            </a:r>
            <a:endParaRPr lang="en-US" sz="1600" dirty="0"/>
          </a:p>
        </p:txBody>
      </p:sp>
      <p:sp>
        <p:nvSpPr>
          <p:cNvPr id="8" name="Text 5"/>
          <p:cNvSpPr txBox="1"/>
          <p:nvPr/>
        </p:nvSpPr>
        <p:spPr>
          <a:xfrm>
            <a:off x="868680" y="4389120"/>
            <a:ext cx="4937760" cy="1280160"/>
          </a:xfrm>
          <a:prstGeom prst="rect">
            <a:avLst/>
          </a:prstGeom>
          <a:noFill/>
          <a:ln/>
        </p:spPr>
        <p:txBody>
          <a:bodyPr wrap="square" rtlCol="0" anchor="ctr"/>
          <a:lstStyle/>
          <a:p>
            <a:pPr marL="0" indent="0">
              <a:buNone/>
            </a:pPr>
            <a:r>
              <a:rPr lang="en-US" sz="1500" i="1" dirty="0">
                <a:solidFill>
                  <a:srgbClr val="0077B6"/>
                </a:solidFill>
                <a:latin typeface="Calibri" pitchFamily="34" charset="0"/>
                <a:ea typeface="Calibri" pitchFamily="34" charset="-122"/>
                <a:cs typeface="Calibri" pitchFamily="34" charset="-120"/>
              </a:rPr>
              <a:t>Un baseline no es un documento muerto: se mide al inicio, se versiona y se vuelve a medir tras cada mejora.</a:t>
            </a:r>
            <a:endParaRPr lang="en-US" sz="1500" dirty="0"/>
          </a:p>
        </p:txBody>
      </p:sp>
      <p:sp>
        <p:nvSpPr>
          <p:cNvPr id="9" name="Text 6"/>
          <p:cNvSpPr txBox="1"/>
          <p:nvPr/>
        </p:nvSpPr>
        <p:spPr>
          <a:xfrm>
            <a:off x="6446520" y="1920240"/>
            <a:ext cx="5120640" cy="365760"/>
          </a:xfrm>
          <a:prstGeom prst="rect">
            <a:avLst/>
          </a:prstGeom>
          <a:noFill/>
          <a:ln/>
        </p:spPr>
        <p:txBody>
          <a:bodyPr wrap="square" rtlCol="0" anchor="ctr"/>
          <a:lstStyle/>
          <a:p>
            <a:pPr marL="0" indent="0">
              <a:buNone/>
            </a:pPr>
            <a:r>
              <a:rPr lang="en-US" sz="1500" b="1" dirty="0">
                <a:solidFill>
                  <a:srgbClr val="0077B6"/>
                </a:solidFill>
                <a:latin typeface="Calibri" pitchFamily="34" charset="0"/>
                <a:ea typeface="Calibri" pitchFamily="34" charset="-122"/>
                <a:cs typeface="Calibri" pitchFamily="34" charset="-120"/>
              </a:rPr>
              <a:t>Por qué nos sirve</a:t>
            </a:r>
            <a:endParaRPr lang="en-US" sz="1500" dirty="0"/>
          </a:p>
        </p:txBody>
      </p:sp>
      <p:sp>
        <p:nvSpPr>
          <p:cNvPr id="10" name="Shape 7"/>
          <p:cNvSpPr/>
          <p:nvPr/>
        </p:nvSpPr>
        <p:spPr>
          <a:xfrm>
            <a:off x="6446520" y="2377440"/>
            <a:ext cx="5120640" cy="713232"/>
          </a:xfrm>
          <a:prstGeom prst="roundRect">
            <a:avLst>
              <a:gd name="adj" fmla="val 10256"/>
            </a:avLst>
          </a:prstGeom>
          <a:solidFill>
            <a:srgbClr val="FFFFFF"/>
          </a:solidFill>
          <a:ln w="12700">
            <a:solidFill>
              <a:srgbClr val="D8E3EC"/>
            </a:solidFill>
            <a:prstDash val="solid"/>
          </a:ln>
        </p:spPr>
        <p:txBody>
          <a:bodyPr/>
          <a:lstStyle/>
          <a:p>
            <a:endParaRPr lang="en-US"/>
          </a:p>
        </p:txBody>
      </p:sp>
      <p:sp>
        <p:nvSpPr>
          <p:cNvPr id="11" name="Shape 8"/>
          <p:cNvSpPr/>
          <p:nvPr/>
        </p:nvSpPr>
        <p:spPr>
          <a:xfrm>
            <a:off x="6629400" y="2569464"/>
            <a:ext cx="347472" cy="347472"/>
          </a:xfrm>
          <a:prstGeom prst="ellipse">
            <a:avLst/>
          </a:prstGeom>
          <a:solidFill>
            <a:srgbClr val="2ECC71"/>
          </a:solidFill>
          <a:ln/>
        </p:spPr>
        <p:txBody>
          <a:bodyPr/>
          <a:lstStyle/>
          <a:p>
            <a:endParaRPr lang="en-US"/>
          </a:p>
        </p:txBody>
      </p:sp>
      <p:sp>
        <p:nvSpPr>
          <p:cNvPr id="12" name="Text 9"/>
          <p:cNvSpPr txBox="1"/>
          <p:nvPr/>
        </p:nvSpPr>
        <p:spPr>
          <a:xfrm>
            <a:off x="6629400" y="2569464"/>
            <a:ext cx="347472" cy="3474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7132320" y="2377440"/>
            <a:ext cx="4297680" cy="713232"/>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Convierte “seguridad” en un número objetivo</a:t>
            </a:r>
            <a:endParaRPr lang="en-US" sz="1400" dirty="0"/>
          </a:p>
        </p:txBody>
      </p:sp>
      <p:sp>
        <p:nvSpPr>
          <p:cNvPr id="14" name="Shape 11"/>
          <p:cNvSpPr/>
          <p:nvPr/>
        </p:nvSpPr>
        <p:spPr>
          <a:xfrm>
            <a:off x="6446520" y="3246120"/>
            <a:ext cx="5120640" cy="713232"/>
          </a:xfrm>
          <a:prstGeom prst="roundRect">
            <a:avLst>
              <a:gd name="adj" fmla="val 10256"/>
            </a:avLst>
          </a:prstGeom>
          <a:solidFill>
            <a:srgbClr val="FFFFFF"/>
          </a:solidFill>
          <a:ln w="12700">
            <a:solidFill>
              <a:srgbClr val="D8E3EC"/>
            </a:solidFill>
            <a:prstDash val="solid"/>
          </a:ln>
        </p:spPr>
        <p:txBody>
          <a:bodyPr/>
          <a:lstStyle/>
          <a:p>
            <a:endParaRPr lang="en-US"/>
          </a:p>
        </p:txBody>
      </p:sp>
      <p:sp>
        <p:nvSpPr>
          <p:cNvPr id="15" name="Shape 12"/>
          <p:cNvSpPr/>
          <p:nvPr/>
        </p:nvSpPr>
        <p:spPr>
          <a:xfrm>
            <a:off x="6629400" y="3438144"/>
            <a:ext cx="347472" cy="347472"/>
          </a:xfrm>
          <a:prstGeom prst="ellipse">
            <a:avLst/>
          </a:prstGeom>
          <a:solidFill>
            <a:srgbClr val="2ECC71"/>
          </a:solidFill>
          <a:ln/>
        </p:spPr>
        <p:txBody>
          <a:bodyPr/>
          <a:lstStyle/>
          <a:p>
            <a:endParaRPr lang="en-US"/>
          </a:p>
        </p:txBody>
      </p:sp>
      <p:sp>
        <p:nvSpPr>
          <p:cNvPr id="16" name="Text 13"/>
          <p:cNvSpPr txBox="1"/>
          <p:nvPr/>
        </p:nvSpPr>
        <p:spPr>
          <a:xfrm>
            <a:off x="6629400" y="3438144"/>
            <a:ext cx="347472" cy="3474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4"/>
          <p:cNvSpPr txBox="1"/>
          <p:nvPr/>
        </p:nvSpPr>
        <p:spPr>
          <a:xfrm>
            <a:off x="7132320" y="3246120"/>
            <a:ext cx="4297680" cy="713232"/>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Permite comparar antes vs después</a:t>
            </a:r>
            <a:endParaRPr lang="en-US" sz="1400" dirty="0"/>
          </a:p>
        </p:txBody>
      </p:sp>
      <p:sp>
        <p:nvSpPr>
          <p:cNvPr id="18" name="Shape 15"/>
          <p:cNvSpPr/>
          <p:nvPr/>
        </p:nvSpPr>
        <p:spPr>
          <a:xfrm>
            <a:off x="6446520" y="4114800"/>
            <a:ext cx="5120640" cy="713232"/>
          </a:xfrm>
          <a:prstGeom prst="roundRect">
            <a:avLst>
              <a:gd name="adj" fmla="val 10256"/>
            </a:avLst>
          </a:prstGeom>
          <a:solidFill>
            <a:srgbClr val="FFFFFF"/>
          </a:solidFill>
          <a:ln w="12700">
            <a:solidFill>
              <a:srgbClr val="D8E3EC"/>
            </a:solidFill>
            <a:prstDash val="solid"/>
          </a:ln>
        </p:spPr>
        <p:txBody>
          <a:bodyPr/>
          <a:lstStyle/>
          <a:p>
            <a:endParaRPr lang="en-US"/>
          </a:p>
        </p:txBody>
      </p:sp>
      <p:sp>
        <p:nvSpPr>
          <p:cNvPr id="19" name="Shape 16"/>
          <p:cNvSpPr/>
          <p:nvPr/>
        </p:nvSpPr>
        <p:spPr>
          <a:xfrm>
            <a:off x="6629400" y="4306824"/>
            <a:ext cx="347472" cy="347472"/>
          </a:xfrm>
          <a:prstGeom prst="ellipse">
            <a:avLst/>
          </a:prstGeom>
          <a:solidFill>
            <a:srgbClr val="2ECC71"/>
          </a:solidFill>
          <a:ln/>
        </p:spPr>
        <p:txBody>
          <a:bodyPr/>
          <a:lstStyle/>
          <a:p>
            <a:endParaRPr lang="en-US"/>
          </a:p>
        </p:txBody>
      </p:sp>
      <p:sp>
        <p:nvSpPr>
          <p:cNvPr id="20" name="Text 17"/>
          <p:cNvSpPr txBox="1"/>
          <p:nvPr/>
        </p:nvSpPr>
        <p:spPr>
          <a:xfrm>
            <a:off x="6629400" y="4306824"/>
            <a:ext cx="347472" cy="3474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8"/>
          <p:cNvSpPr txBox="1"/>
          <p:nvPr/>
        </p:nvSpPr>
        <p:spPr>
          <a:xfrm>
            <a:off x="7132320" y="4114800"/>
            <a:ext cx="4297680" cy="713232"/>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Prioriza: atacas primero lo que más falla</a:t>
            </a:r>
            <a:endParaRPr lang="en-US" sz="1400" dirty="0"/>
          </a:p>
        </p:txBody>
      </p:sp>
      <p:sp>
        <p:nvSpPr>
          <p:cNvPr id="22" name="Shape 19"/>
          <p:cNvSpPr/>
          <p:nvPr/>
        </p:nvSpPr>
        <p:spPr>
          <a:xfrm>
            <a:off x="6446520" y="4983480"/>
            <a:ext cx="5120640" cy="713232"/>
          </a:xfrm>
          <a:prstGeom prst="roundRect">
            <a:avLst>
              <a:gd name="adj" fmla="val 10256"/>
            </a:avLst>
          </a:prstGeom>
          <a:solidFill>
            <a:srgbClr val="FFFFFF"/>
          </a:solidFill>
          <a:ln w="12700">
            <a:solidFill>
              <a:srgbClr val="D8E3EC"/>
            </a:solidFill>
            <a:prstDash val="solid"/>
          </a:ln>
        </p:spPr>
        <p:txBody>
          <a:bodyPr/>
          <a:lstStyle/>
          <a:p>
            <a:endParaRPr lang="en-US"/>
          </a:p>
        </p:txBody>
      </p:sp>
      <p:sp>
        <p:nvSpPr>
          <p:cNvPr id="23" name="Shape 20"/>
          <p:cNvSpPr/>
          <p:nvPr/>
        </p:nvSpPr>
        <p:spPr>
          <a:xfrm>
            <a:off x="6629400" y="5175504"/>
            <a:ext cx="347472" cy="347472"/>
          </a:xfrm>
          <a:prstGeom prst="ellipse">
            <a:avLst/>
          </a:prstGeom>
          <a:solidFill>
            <a:srgbClr val="2ECC71"/>
          </a:solidFill>
          <a:ln/>
        </p:spPr>
        <p:txBody>
          <a:bodyPr/>
          <a:lstStyle/>
          <a:p>
            <a:endParaRPr lang="en-US"/>
          </a:p>
        </p:txBody>
      </p:sp>
      <p:sp>
        <p:nvSpPr>
          <p:cNvPr id="24" name="Text 21"/>
          <p:cNvSpPr txBox="1"/>
          <p:nvPr/>
        </p:nvSpPr>
        <p:spPr>
          <a:xfrm>
            <a:off x="6629400" y="5175504"/>
            <a:ext cx="347472" cy="3474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2"/>
          <p:cNvSpPr txBox="1"/>
          <p:nvPr/>
        </p:nvSpPr>
        <p:spPr>
          <a:xfrm>
            <a:off x="7132320" y="4983480"/>
            <a:ext cx="4297680" cy="713232"/>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Documenta y demuestra cumplimiento</a:t>
            </a:r>
            <a:endParaRPr lang="en-US" sz="1400" dirty="0"/>
          </a:p>
        </p:txBody>
      </p:sp>
      <p:sp>
        <p:nvSpPr>
          <p:cNvPr id="26"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EL RITMO DE TODO EL MÓDULO</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Medir  →  Endurecer  →  Re-medir</a:t>
            </a:r>
            <a:endParaRPr lang="en-US" sz="3200" dirty="0"/>
          </a:p>
        </p:txBody>
      </p:sp>
      <p:sp>
        <p:nvSpPr>
          <p:cNvPr id="4" name="Shape 2"/>
          <p:cNvSpPr/>
          <p:nvPr/>
        </p:nvSpPr>
        <p:spPr>
          <a:xfrm>
            <a:off x="548640" y="2103120"/>
            <a:ext cx="3429000" cy="3291840"/>
          </a:xfrm>
          <a:prstGeom prst="roundRect">
            <a:avLst>
              <a:gd name="adj" fmla="val 2778"/>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1810512" y="2423160"/>
            <a:ext cx="914400" cy="914400"/>
          </a:xfrm>
          <a:prstGeom prst="ellipse">
            <a:avLst/>
          </a:prstGeom>
          <a:solidFill>
            <a:srgbClr val="0077B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048256" y="2660904"/>
            <a:ext cx="438912" cy="438912"/>
          </a:xfrm>
          <a:prstGeom prst="rect">
            <a:avLst/>
          </a:prstGeom>
        </p:spPr>
      </p:pic>
      <p:sp>
        <p:nvSpPr>
          <p:cNvPr id="7" name="Shape 4"/>
          <p:cNvSpPr/>
          <p:nvPr/>
        </p:nvSpPr>
        <p:spPr>
          <a:xfrm>
            <a:off x="3246120" y="2377440"/>
            <a:ext cx="548640" cy="548640"/>
          </a:xfrm>
          <a:prstGeom prst="ellipse">
            <a:avLst/>
          </a:prstGeom>
          <a:solidFill>
            <a:srgbClr val="0A1628"/>
          </a:solidFill>
          <a:ln/>
        </p:spPr>
        <p:txBody>
          <a:bodyPr/>
          <a:lstStyle/>
          <a:p>
            <a:endParaRPr lang="en-US"/>
          </a:p>
        </p:txBody>
      </p:sp>
      <p:sp>
        <p:nvSpPr>
          <p:cNvPr id="8" name="Text 5"/>
          <p:cNvSpPr txBox="1"/>
          <p:nvPr/>
        </p:nvSpPr>
        <p:spPr>
          <a:xfrm>
            <a:off x="3246120" y="2377440"/>
            <a:ext cx="548640" cy="548640"/>
          </a:xfrm>
          <a:prstGeom prst="rect">
            <a:avLst/>
          </a:prstGeom>
          <a:noFill/>
          <a:ln/>
        </p:spPr>
        <p:txBody>
          <a:bodyPr wrap="square"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731520" y="3520440"/>
            <a:ext cx="3063240" cy="457200"/>
          </a:xfrm>
          <a:prstGeom prst="rect">
            <a:avLst/>
          </a:prstGeom>
          <a:noFill/>
          <a:ln/>
        </p:spPr>
        <p:txBody>
          <a:bodyPr wrap="square" rtlCol="0" anchor="ctr"/>
          <a:lstStyle/>
          <a:p>
            <a:pPr marL="0" indent="0" algn="ctr">
              <a:buNone/>
            </a:pPr>
            <a:r>
              <a:rPr lang="en-US" sz="2100" b="1" dirty="0">
                <a:solidFill>
                  <a:srgbClr val="0A1628"/>
                </a:solidFill>
                <a:latin typeface="Calibri" pitchFamily="34" charset="0"/>
                <a:ea typeface="Calibri" pitchFamily="34" charset="-122"/>
                <a:cs typeface="Calibri" pitchFamily="34" charset="-120"/>
              </a:rPr>
              <a:t>Medir</a:t>
            </a:r>
            <a:endParaRPr lang="en-US" sz="2100" dirty="0"/>
          </a:p>
        </p:txBody>
      </p:sp>
      <p:sp>
        <p:nvSpPr>
          <p:cNvPr id="10" name="Text 7"/>
          <p:cNvSpPr txBox="1"/>
          <p:nvPr/>
        </p:nvSpPr>
        <p:spPr>
          <a:xfrm>
            <a:off x="822960" y="4023360"/>
            <a:ext cx="2880360" cy="1280160"/>
          </a:xfrm>
          <a:prstGeom prst="rect">
            <a:avLst/>
          </a:prstGeom>
          <a:noFill/>
          <a:ln/>
        </p:spPr>
        <p:txBody>
          <a:bodyPr wrap="square" rtlCol="0" anchor="t"/>
          <a:lstStyle/>
          <a:p>
            <a:pPr marL="0" indent="0" algn="ctr">
              <a:buNone/>
            </a:pPr>
            <a:r>
              <a:rPr lang="en-US" sz="1350" dirty="0">
                <a:solidFill>
                  <a:srgbClr val="33465A"/>
                </a:solidFill>
                <a:latin typeface="Calibri" pitchFamily="34" charset="0"/>
                <a:ea typeface="Calibri" pitchFamily="34" charset="-122"/>
                <a:cs typeface="Calibri" pitchFamily="34" charset="-120"/>
              </a:rPr>
              <a:t>Auditar el sistema con CIS-CAT u OpenSCAP y obtener el % de cumplimiento inicial.</a:t>
            </a:r>
            <a:endParaRPr lang="en-US" sz="1350" dirty="0"/>
          </a:p>
        </p:txBody>
      </p:sp>
      <p:sp>
        <p:nvSpPr>
          <p:cNvPr id="11" name="Text 8"/>
          <p:cNvSpPr txBox="1"/>
          <p:nvPr/>
        </p:nvSpPr>
        <p:spPr>
          <a:xfrm>
            <a:off x="4005072" y="3291840"/>
            <a:ext cx="365760" cy="9144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a:t>
            </a:r>
            <a:endParaRPr lang="en-US" sz="3000" dirty="0"/>
          </a:p>
        </p:txBody>
      </p:sp>
      <p:sp>
        <p:nvSpPr>
          <p:cNvPr id="12" name="Shape 9"/>
          <p:cNvSpPr/>
          <p:nvPr/>
        </p:nvSpPr>
        <p:spPr>
          <a:xfrm>
            <a:off x="4370832" y="2103120"/>
            <a:ext cx="3429000" cy="3291840"/>
          </a:xfrm>
          <a:prstGeom prst="roundRect">
            <a:avLst>
              <a:gd name="adj" fmla="val 2778"/>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3" name="Shape 10"/>
          <p:cNvSpPr/>
          <p:nvPr/>
        </p:nvSpPr>
        <p:spPr>
          <a:xfrm>
            <a:off x="5632704" y="2423160"/>
            <a:ext cx="914400" cy="914400"/>
          </a:xfrm>
          <a:prstGeom prst="ellipse">
            <a:avLst/>
          </a:prstGeom>
          <a:solidFill>
            <a:srgbClr val="00B4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870448" y="2660904"/>
            <a:ext cx="438912" cy="438912"/>
          </a:xfrm>
          <a:prstGeom prst="rect">
            <a:avLst/>
          </a:prstGeom>
        </p:spPr>
      </p:pic>
      <p:sp>
        <p:nvSpPr>
          <p:cNvPr id="15" name="Shape 11"/>
          <p:cNvSpPr/>
          <p:nvPr/>
        </p:nvSpPr>
        <p:spPr>
          <a:xfrm>
            <a:off x="7068312" y="2377440"/>
            <a:ext cx="548640" cy="548640"/>
          </a:xfrm>
          <a:prstGeom prst="ellipse">
            <a:avLst/>
          </a:prstGeom>
          <a:solidFill>
            <a:srgbClr val="0A1628"/>
          </a:solidFill>
          <a:ln/>
        </p:spPr>
        <p:txBody>
          <a:bodyPr/>
          <a:lstStyle/>
          <a:p>
            <a:endParaRPr lang="en-US"/>
          </a:p>
        </p:txBody>
      </p:sp>
      <p:sp>
        <p:nvSpPr>
          <p:cNvPr id="16" name="Text 12"/>
          <p:cNvSpPr txBox="1"/>
          <p:nvPr/>
        </p:nvSpPr>
        <p:spPr>
          <a:xfrm>
            <a:off x="7068312" y="2377440"/>
            <a:ext cx="548640" cy="548640"/>
          </a:xfrm>
          <a:prstGeom prst="rect">
            <a:avLst/>
          </a:prstGeom>
          <a:noFill/>
          <a:ln/>
        </p:spPr>
        <p:txBody>
          <a:bodyPr wrap="square"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2</a:t>
            </a:r>
            <a:endParaRPr lang="en-US" sz="1800" dirty="0"/>
          </a:p>
        </p:txBody>
      </p:sp>
      <p:sp>
        <p:nvSpPr>
          <p:cNvPr id="17" name="Text 13"/>
          <p:cNvSpPr txBox="1"/>
          <p:nvPr/>
        </p:nvSpPr>
        <p:spPr>
          <a:xfrm>
            <a:off x="4553712" y="3520440"/>
            <a:ext cx="3063240" cy="457200"/>
          </a:xfrm>
          <a:prstGeom prst="rect">
            <a:avLst/>
          </a:prstGeom>
          <a:noFill/>
          <a:ln/>
        </p:spPr>
        <p:txBody>
          <a:bodyPr wrap="square" rtlCol="0" anchor="ctr"/>
          <a:lstStyle/>
          <a:p>
            <a:pPr marL="0" indent="0" algn="ctr">
              <a:buNone/>
            </a:pPr>
            <a:r>
              <a:rPr lang="en-US" sz="2100" b="1" dirty="0">
                <a:solidFill>
                  <a:srgbClr val="0A1628"/>
                </a:solidFill>
                <a:latin typeface="Calibri" pitchFamily="34" charset="0"/>
                <a:ea typeface="Calibri" pitchFamily="34" charset="-122"/>
                <a:cs typeface="Calibri" pitchFamily="34" charset="-120"/>
              </a:rPr>
              <a:t>Endurecer</a:t>
            </a:r>
            <a:endParaRPr lang="en-US" sz="2100" dirty="0"/>
          </a:p>
        </p:txBody>
      </p:sp>
      <p:sp>
        <p:nvSpPr>
          <p:cNvPr id="18" name="Text 14"/>
          <p:cNvSpPr txBox="1"/>
          <p:nvPr/>
        </p:nvSpPr>
        <p:spPr>
          <a:xfrm>
            <a:off x="4645152" y="4023360"/>
            <a:ext cx="2880360" cy="1280160"/>
          </a:xfrm>
          <a:prstGeom prst="rect">
            <a:avLst/>
          </a:prstGeom>
          <a:noFill/>
          <a:ln/>
        </p:spPr>
        <p:txBody>
          <a:bodyPr wrap="square" rtlCol="0" anchor="t"/>
          <a:lstStyle/>
          <a:p>
            <a:pPr marL="0" indent="0" algn="ctr">
              <a:buNone/>
            </a:pPr>
            <a:r>
              <a:rPr lang="en-US" sz="1350" dirty="0">
                <a:solidFill>
                  <a:srgbClr val="33465A"/>
                </a:solidFill>
                <a:latin typeface="Calibri" pitchFamily="34" charset="0"/>
                <a:ea typeface="Calibri" pitchFamily="34" charset="-122"/>
                <a:cs typeface="Calibri" pitchFamily="34" charset="-120"/>
              </a:rPr>
              <a:t>Aplicar las configuraciones del benchmark: cuentas, servicios, cifrado, logs.</a:t>
            </a:r>
            <a:endParaRPr lang="en-US" sz="1350" dirty="0"/>
          </a:p>
        </p:txBody>
      </p:sp>
      <p:sp>
        <p:nvSpPr>
          <p:cNvPr id="19" name="Text 15"/>
          <p:cNvSpPr txBox="1"/>
          <p:nvPr/>
        </p:nvSpPr>
        <p:spPr>
          <a:xfrm>
            <a:off x="7827264" y="3291840"/>
            <a:ext cx="365760" cy="9144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a:t>
            </a:r>
            <a:endParaRPr lang="en-US" sz="3000" dirty="0"/>
          </a:p>
        </p:txBody>
      </p:sp>
      <p:sp>
        <p:nvSpPr>
          <p:cNvPr id="20" name="Shape 16"/>
          <p:cNvSpPr/>
          <p:nvPr/>
        </p:nvSpPr>
        <p:spPr>
          <a:xfrm>
            <a:off x="8193024" y="2103120"/>
            <a:ext cx="3429000" cy="3291840"/>
          </a:xfrm>
          <a:prstGeom prst="roundRect">
            <a:avLst>
              <a:gd name="adj" fmla="val 2778"/>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21" name="Shape 17"/>
          <p:cNvSpPr/>
          <p:nvPr/>
        </p:nvSpPr>
        <p:spPr>
          <a:xfrm>
            <a:off x="9454896" y="2423160"/>
            <a:ext cx="914400" cy="914400"/>
          </a:xfrm>
          <a:prstGeom prst="ellipse">
            <a:avLst/>
          </a:prstGeom>
          <a:solidFill>
            <a:srgbClr val="2ECC7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9692640" y="2660904"/>
            <a:ext cx="438912" cy="438912"/>
          </a:xfrm>
          <a:prstGeom prst="rect">
            <a:avLst/>
          </a:prstGeom>
        </p:spPr>
      </p:pic>
      <p:sp>
        <p:nvSpPr>
          <p:cNvPr id="23" name="Shape 18"/>
          <p:cNvSpPr/>
          <p:nvPr/>
        </p:nvSpPr>
        <p:spPr>
          <a:xfrm>
            <a:off x="10890504" y="2377440"/>
            <a:ext cx="548640" cy="548640"/>
          </a:xfrm>
          <a:prstGeom prst="ellipse">
            <a:avLst/>
          </a:prstGeom>
          <a:solidFill>
            <a:srgbClr val="0A1628"/>
          </a:solidFill>
          <a:ln/>
        </p:spPr>
        <p:txBody>
          <a:bodyPr/>
          <a:lstStyle/>
          <a:p>
            <a:endParaRPr lang="en-US"/>
          </a:p>
        </p:txBody>
      </p:sp>
      <p:sp>
        <p:nvSpPr>
          <p:cNvPr id="24" name="Text 19"/>
          <p:cNvSpPr txBox="1"/>
          <p:nvPr/>
        </p:nvSpPr>
        <p:spPr>
          <a:xfrm>
            <a:off x="10890504" y="2377440"/>
            <a:ext cx="548640" cy="548640"/>
          </a:xfrm>
          <a:prstGeom prst="rect">
            <a:avLst/>
          </a:prstGeom>
          <a:noFill/>
          <a:ln/>
        </p:spPr>
        <p:txBody>
          <a:bodyPr wrap="square"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3</a:t>
            </a:r>
            <a:endParaRPr lang="en-US" sz="1800" dirty="0"/>
          </a:p>
        </p:txBody>
      </p:sp>
      <p:sp>
        <p:nvSpPr>
          <p:cNvPr id="25" name="Text 20"/>
          <p:cNvSpPr txBox="1"/>
          <p:nvPr/>
        </p:nvSpPr>
        <p:spPr>
          <a:xfrm>
            <a:off x="8375904" y="3520440"/>
            <a:ext cx="3063240" cy="457200"/>
          </a:xfrm>
          <a:prstGeom prst="rect">
            <a:avLst/>
          </a:prstGeom>
          <a:noFill/>
          <a:ln/>
        </p:spPr>
        <p:txBody>
          <a:bodyPr wrap="square" rtlCol="0" anchor="ctr"/>
          <a:lstStyle/>
          <a:p>
            <a:pPr marL="0" indent="0" algn="ctr">
              <a:buNone/>
            </a:pPr>
            <a:r>
              <a:rPr lang="en-US" sz="2100" b="1" dirty="0">
                <a:solidFill>
                  <a:srgbClr val="0A1628"/>
                </a:solidFill>
                <a:latin typeface="Calibri" pitchFamily="34" charset="0"/>
                <a:ea typeface="Calibri" pitchFamily="34" charset="-122"/>
                <a:cs typeface="Calibri" pitchFamily="34" charset="-120"/>
              </a:rPr>
              <a:t>Re-medir</a:t>
            </a:r>
            <a:endParaRPr lang="en-US" sz="2100" dirty="0"/>
          </a:p>
        </p:txBody>
      </p:sp>
      <p:sp>
        <p:nvSpPr>
          <p:cNvPr id="26" name="Text 21"/>
          <p:cNvSpPr txBox="1"/>
          <p:nvPr/>
        </p:nvSpPr>
        <p:spPr>
          <a:xfrm>
            <a:off x="8467344" y="4023360"/>
            <a:ext cx="2880360" cy="1280160"/>
          </a:xfrm>
          <a:prstGeom prst="rect">
            <a:avLst/>
          </a:prstGeom>
          <a:noFill/>
          <a:ln/>
        </p:spPr>
        <p:txBody>
          <a:bodyPr wrap="square" rtlCol="0" anchor="t"/>
          <a:lstStyle/>
          <a:p>
            <a:pPr marL="0" indent="0" algn="ctr">
              <a:buNone/>
            </a:pPr>
            <a:r>
              <a:rPr lang="en-US" sz="1350" dirty="0">
                <a:solidFill>
                  <a:srgbClr val="33465A"/>
                </a:solidFill>
                <a:latin typeface="Calibri" pitchFamily="34" charset="0"/>
                <a:ea typeface="Calibri" pitchFamily="34" charset="-122"/>
                <a:cs typeface="Calibri" pitchFamily="34" charset="-120"/>
              </a:rPr>
              <a:t>Volver a auditar y comparar: el número sube. Evidencia de la mejora.</a:t>
            </a:r>
            <a:endParaRPr lang="en-US" sz="1350" dirty="0"/>
          </a:p>
        </p:txBody>
      </p:sp>
      <p:sp>
        <p:nvSpPr>
          <p:cNvPr id="27" name="Shape 22"/>
          <p:cNvSpPr/>
          <p:nvPr/>
        </p:nvSpPr>
        <p:spPr>
          <a:xfrm>
            <a:off x="548640" y="5623560"/>
            <a:ext cx="11064240" cy="548640"/>
          </a:xfrm>
          <a:prstGeom prst="roundRect">
            <a:avLst>
              <a:gd name="adj" fmla="val 16667"/>
            </a:avLst>
          </a:prstGeom>
          <a:solidFill>
            <a:srgbClr val="F3F7FA"/>
          </a:solidFill>
          <a:ln/>
        </p:spPr>
        <p:txBody>
          <a:bodyPr/>
          <a:lstStyle/>
          <a:p>
            <a:endParaRPr lang="en-US"/>
          </a:p>
        </p:txBody>
      </p:sp>
      <p:sp>
        <p:nvSpPr>
          <p:cNvPr id="28" name="Text 23"/>
          <p:cNvSpPr txBox="1"/>
          <p:nvPr/>
        </p:nvSpPr>
        <p:spPr>
          <a:xfrm>
            <a:off x="548640" y="5623560"/>
            <a:ext cx="11064240" cy="548640"/>
          </a:xfrm>
          <a:prstGeom prst="rect">
            <a:avLst/>
          </a:prstGeom>
          <a:noFill/>
          <a:ln/>
        </p:spPr>
        <p:txBody>
          <a:bodyPr wrap="square" rtlCol="0" anchor="ctr"/>
          <a:lstStyle/>
          <a:p>
            <a:pPr marL="0" indent="0" algn="ctr">
              <a:buNone/>
            </a:pPr>
            <a:r>
              <a:rPr lang="en-US" sz="1400" b="1" dirty="0">
                <a:solidFill>
                  <a:srgbClr val="0077B6"/>
                </a:solidFill>
                <a:latin typeface="Calibri" pitchFamily="34" charset="0"/>
                <a:ea typeface="Calibri" pitchFamily="34" charset="-122"/>
                <a:cs typeface="Calibri" pitchFamily="34" charset="-120"/>
              </a:rPr>
              <a:t>Hoy hacemos el paso 1. La Clase 08 cierra el ciclo re-midiendo todo contra el baseline de hoy.</a:t>
            </a:r>
            <a:endParaRPr lang="en-US" sz="1400" dirty="0"/>
          </a:p>
        </p:txBody>
      </p:sp>
      <p:sp>
        <p:nvSpPr>
          <p:cNvPr id="29"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CÓMO LEER UN BENCHMARK</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200" b="1" dirty="0">
                <a:solidFill>
                  <a:srgbClr val="0A1628"/>
                </a:solidFill>
                <a:latin typeface="Calibri" pitchFamily="34" charset="0"/>
                <a:ea typeface="Calibri" pitchFamily="34" charset="-122"/>
                <a:cs typeface="Calibri" pitchFamily="34" charset="-120"/>
              </a:rPr>
              <a:t>Niveles CIS: L1 y L2</a:t>
            </a:r>
            <a:endParaRPr lang="en-US" sz="3200" dirty="0"/>
          </a:p>
        </p:txBody>
      </p:sp>
      <p:sp>
        <p:nvSpPr>
          <p:cNvPr id="4" name="Shape 2"/>
          <p:cNvSpPr/>
          <p:nvPr/>
        </p:nvSpPr>
        <p:spPr>
          <a:xfrm>
            <a:off x="548640" y="1783080"/>
            <a:ext cx="5349240" cy="2194560"/>
          </a:xfrm>
          <a:prstGeom prst="roundRect">
            <a:avLst>
              <a:gd name="adj" fmla="val 4167"/>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5" name="Shape 3"/>
          <p:cNvSpPr/>
          <p:nvPr/>
        </p:nvSpPr>
        <p:spPr>
          <a:xfrm>
            <a:off x="868680" y="2057400"/>
            <a:ext cx="2103120" cy="411480"/>
          </a:xfrm>
          <a:prstGeom prst="roundRect">
            <a:avLst>
              <a:gd name="adj" fmla="val 48889"/>
            </a:avLst>
          </a:prstGeom>
          <a:solidFill>
            <a:srgbClr val="2ECC71"/>
          </a:solidFill>
          <a:ln/>
        </p:spPr>
        <p:txBody>
          <a:bodyPr/>
          <a:lstStyle/>
          <a:p>
            <a:endParaRPr lang="en-US"/>
          </a:p>
        </p:txBody>
      </p:sp>
      <p:sp>
        <p:nvSpPr>
          <p:cNvPr id="6" name="Text 4"/>
          <p:cNvSpPr txBox="1"/>
          <p:nvPr/>
        </p:nvSpPr>
        <p:spPr>
          <a:xfrm>
            <a:off x="868680" y="2057400"/>
            <a:ext cx="2103120" cy="411480"/>
          </a:xfrm>
          <a:prstGeom prst="rect">
            <a:avLst/>
          </a:prstGeom>
          <a:noFill/>
          <a:ln/>
        </p:spPr>
        <p:txBody>
          <a:bodyPr wrap="square" rtlCol="0" anchor="ctr"/>
          <a:lstStyle/>
          <a:p>
            <a:pPr marL="0" indent="0" algn="ctr">
              <a:buNone/>
            </a:pPr>
            <a:r>
              <a:rPr lang="en-US" sz="1000" b="1" kern="0" spc="100" dirty="0">
                <a:solidFill>
                  <a:srgbClr val="0A1628"/>
                </a:solidFill>
                <a:latin typeface="Calibri" pitchFamily="34" charset="0"/>
                <a:ea typeface="Calibri" pitchFamily="34" charset="-122"/>
                <a:cs typeface="Calibri" pitchFamily="34" charset="-120"/>
              </a:rPr>
              <a:t>Empieza aquí</a:t>
            </a:r>
            <a:endParaRPr lang="en-US" sz="1000" dirty="0"/>
          </a:p>
        </p:txBody>
      </p:sp>
      <p:sp>
        <p:nvSpPr>
          <p:cNvPr id="7" name="Text 5"/>
          <p:cNvSpPr txBox="1"/>
          <p:nvPr/>
        </p:nvSpPr>
        <p:spPr>
          <a:xfrm>
            <a:off x="914400" y="2606040"/>
            <a:ext cx="4663440" cy="457200"/>
          </a:xfrm>
          <a:prstGeom prst="rect">
            <a:avLst/>
          </a:prstGeom>
          <a:noFill/>
          <a:ln/>
        </p:spPr>
        <p:txBody>
          <a:bodyPr wrap="square" rtlCol="0" anchor="ctr"/>
          <a:lstStyle/>
          <a:p>
            <a:pPr marL="0" indent="0">
              <a:buNone/>
            </a:pPr>
            <a:r>
              <a:rPr lang="en-US" sz="2000" b="1" dirty="0">
                <a:solidFill>
                  <a:srgbClr val="0A1628"/>
                </a:solidFill>
                <a:latin typeface="Calibri" pitchFamily="34" charset="0"/>
                <a:ea typeface="Calibri" pitchFamily="34" charset="-122"/>
                <a:cs typeface="Calibri" pitchFamily="34" charset="-120"/>
              </a:rPr>
              <a:t>Nivel 1 (L1)</a:t>
            </a:r>
            <a:endParaRPr lang="en-US" sz="2000" dirty="0"/>
          </a:p>
        </p:txBody>
      </p:sp>
      <p:sp>
        <p:nvSpPr>
          <p:cNvPr id="8" name="Text 6"/>
          <p:cNvSpPr txBox="1"/>
          <p:nvPr/>
        </p:nvSpPr>
        <p:spPr>
          <a:xfrm>
            <a:off x="914400" y="3063240"/>
            <a:ext cx="4709160" cy="868680"/>
          </a:xfrm>
          <a:prstGeom prst="rect">
            <a:avLst/>
          </a:prstGeom>
          <a:noFill/>
          <a:ln/>
        </p:spPr>
        <p:txBody>
          <a:bodyPr wrap="square" rtlCol="0" anchor="ctr"/>
          <a:lstStyle/>
          <a:p>
            <a:pPr marL="0" indent="0">
              <a:buNone/>
            </a:pPr>
            <a:r>
              <a:rPr lang="en-US" sz="1350" dirty="0">
                <a:solidFill>
                  <a:srgbClr val="33465A"/>
                </a:solidFill>
                <a:latin typeface="Calibri" pitchFamily="34" charset="0"/>
                <a:ea typeface="Calibri" pitchFamily="34" charset="-122"/>
                <a:cs typeface="Calibri" pitchFamily="34" charset="-120"/>
              </a:rPr>
              <a:t>Base práctica y segura. Mejora la postura sin romper la operación. El mínimo exigible.</a:t>
            </a:r>
            <a:endParaRPr lang="en-US" sz="1350" dirty="0"/>
          </a:p>
        </p:txBody>
      </p:sp>
      <p:sp>
        <p:nvSpPr>
          <p:cNvPr id="9" name="Shape 7"/>
          <p:cNvSpPr/>
          <p:nvPr/>
        </p:nvSpPr>
        <p:spPr>
          <a:xfrm>
            <a:off x="6263640" y="1783080"/>
            <a:ext cx="5349240" cy="2194560"/>
          </a:xfrm>
          <a:prstGeom prst="roundRect">
            <a:avLst>
              <a:gd name="adj" fmla="val 4167"/>
            </a:avLst>
          </a:prstGeom>
          <a:solidFill>
            <a:srgbClr val="FFFFFF"/>
          </a:solidFill>
          <a:ln w="12700">
            <a:solidFill>
              <a:srgbClr val="D8E3EC"/>
            </a:solidFill>
            <a:prstDash val="solid"/>
          </a:ln>
          <a:effectLst>
            <a:outerShdw blurRad="101600" dist="38100" dir="5400000" algn="bl" rotWithShape="0">
              <a:srgbClr val="9BB0C0">
                <a:alpha val="25000"/>
              </a:srgbClr>
            </a:outerShdw>
          </a:effectLst>
        </p:spPr>
        <p:txBody>
          <a:bodyPr/>
          <a:lstStyle/>
          <a:p>
            <a:endParaRPr lang="en-US"/>
          </a:p>
        </p:txBody>
      </p:sp>
      <p:sp>
        <p:nvSpPr>
          <p:cNvPr id="10" name="Shape 8"/>
          <p:cNvSpPr/>
          <p:nvPr/>
        </p:nvSpPr>
        <p:spPr>
          <a:xfrm>
            <a:off x="6583680" y="2057400"/>
            <a:ext cx="2103120" cy="411480"/>
          </a:xfrm>
          <a:prstGeom prst="roundRect">
            <a:avLst>
              <a:gd name="adj" fmla="val 48889"/>
            </a:avLst>
          </a:prstGeom>
          <a:solidFill>
            <a:srgbClr val="0077B6"/>
          </a:solidFill>
          <a:ln/>
        </p:spPr>
        <p:txBody>
          <a:bodyPr/>
          <a:lstStyle/>
          <a:p>
            <a:endParaRPr lang="en-US"/>
          </a:p>
        </p:txBody>
      </p:sp>
      <p:sp>
        <p:nvSpPr>
          <p:cNvPr id="11" name="Text 9"/>
          <p:cNvSpPr txBox="1"/>
          <p:nvPr/>
        </p:nvSpPr>
        <p:spPr>
          <a:xfrm>
            <a:off x="6583680" y="2057400"/>
            <a:ext cx="2103120" cy="41148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Alta seguridad</a:t>
            </a:r>
            <a:endParaRPr lang="en-US" sz="1000" dirty="0"/>
          </a:p>
        </p:txBody>
      </p:sp>
      <p:sp>
        <p:nvSpPr>
          <p:cNvPr id="12" name="Text 10"/>
          <p:cNvSpPr txBox="1"/>
          <p:nvPr/>
        </p:nvSpPr>
        <p:spPr>
          <a:xfrm>
            <a:off x="6629400" y="2606040"/>
            <a:ext cx="4663440" cy="457200"/>
          </a:xfrm>
          <a:prstGeom prst="rect">
            <a:avLst/>
          </a:prstGeom>
          <a:noFill/>
          <a:ln/>
        </p:spPr>
        <p:txBody>
          <a:bodyPr wrap="square" rtlCol="0" anchor="ctr"/>
          <a:lstStyle/>
          <a:p>
            <a:pPr marL="0" indent="0">
              <a:buNone/>
            </a:pPr>
            <a:r>
              <a:rPr lang="en-US" sz="2000" b="1" dirty="0">
                <a:solidFill>
                  <a:srgbClr val="0A1628"/>
                </a:solidFill>
                <a:latin typeface="Calibri" pitchFamily="34" charset="0"/>
                <a:ea typeface="Calibri" pitchFamily="34" charset="-122"/>
                <a:cs typeface="Calibri" pitchFamily="34" charset="-120"/>
              </a:rPr>
              <a:t>Nivel 2 (L2)</a:t>
            </a:r>
            <a:endParaRPr lang="en-US" sz="2000" dirty="0"/>
          </a:p>
        </p:txBody>
      </p:sp>
      <p:sp>
        <p:nvSpPr>
          <p:cNvPr id="13" name="Text 11"/>
          <p:cNvSpPr txBox="1"/>
          <p:nvPr/>
        </p:nvSpPr>
        <p:spPr>
          <a:xfrm>
            <a:off x="6629400" y="3063240"/>
            <a:ext cx="4709160" cy="868680"/>
          </a:xfrm>
          <a:prstGeom prst="rect">
            <a:avLst/>
          </a:prstGeom>
          <a:noFill/>
          <a:ln/>
        </p:spPr>
        <p:txBody>
          <a:bodyPr wrap="square" rtlCol="0" anchor="ctr"/>
          <a:lstStyle/>
          <a:p>
            <a:pPr marL="0" indent="0">
              <a:buNone/>
            </a:pPr>
            <a:r>
              <a:rPr lang="en-US" sz="1350" dirty="0">
                <a:solidFill>
                  <a:srgbClr val="33465A"/>
                </a:solidFill>
                <a:latin typeface="Calibri" pitchFamily="34" charset="0"/>
                <a:ea typeface="Calibri" pitchFamily="34" charset="-122"/>
                <a:cs typeface="Calibri" pitchFamily="34" charset="-120"/>
              </a:rPr>
              <a:t>Defensa en profundidad para entornos sensibles. Más restrictivo; puede afectar funcionalidad.</a:t>
            </a:r>
            <a:endParaRPr lang="en-US" sz="1350" dirty="0"/>
          </a:p>
        </p:txBody>
      </p:sp>
      <p:sp>
        <p:nvSpPr>
          <p:cNvPr id="14" name="Text 12"/>
          <p:cNvSpPr txBox="1"/>
          <p:nvPr/>
        </p:nvSpPr>
        <p:spPr>
          <a:xfrm>
            <a:off x="548640" y="4160520"/>
            <a:ext cx="10972800" cy="365760"/>
          </a:xfrm>
          <a:prstGeom prst="rect">
            <a:avLst/>
          </a:prstGeom>
          <a:noFill/>
          <a:ln/>
        </p:spPr>
        <p:txBody>
          <a:bodyPr wrap="square" rtlCol="0" anchor="ctr"/>
          <a:lstStyle/>
          <a:p>
            <a:pPr marL="0" indent="0">
              <a:buNone/>
            </a:pPr>
            <a:r>
              <a:rPr lang="en-US" sz="1500" b="1" dirty="0">
                <a:solidFill>
                  <a:srgbClr val="0077B6"/>
                </a:solidFill>
                <a:latin typeface="Calibri" pitchFamily="34" charset="0"/>
                <a:ea typeface="Calibri" pitchFamily="34" charset="-122"/>
                <a:cs typeface="Calibri" pitchFamily="34" charset="-120"/>
              </a:rPr>
              <a:t>Las herramientas que usaremos en el módulo</a:t>
            </a:r>
            <a:endParaRPr lang="en-US" sz="1500" dirty="0"/>
          </a:p>
        </p:txBody>
      </p:sp>
      <p:sp>
        <p:nvSpPr>
          <p:cNvPr id="15" name="Shape 13"/>
          <p:cNvSpPr/>
          <p:nvPr/>
        </p:nvSpPr>
        <p:spPr>
          <a:xfrm>
            <a:off x="548640" y="4572000"/>
            <a:ext cx="5349240" cy="1371600"/>
          </a:xfrm>
          <a:prstGeom prst="roundRect">
            <a:avLst>
              <a:gd name="adj" fmla="val 6667"/>
            </a:avLst>
          </a:prstGeom>
          <a:solidFill>
            <a:srgbClr val="0A1628"/>
          </a:solidFill>
          <a:ln/>
        </p:spPr>
        <p:txBody>
          <a:bodyPr/>
          <a:lstStyle/>
          <a:p>
            <a:endParaRPr lang="en-US"/>
          </a:p>
        </p:txBody>
      </p:sp>
      <p:sp>
        <p:nvSpPr>
          <p:cNvPr id="16" name="Shape 14"/>
          <p:cNvSpPr/>
          <p:nvPr/>
        </p:nvSpPr>
        <p:spPr>
          <a:xfrm>
            <a:off x="822960" y="4846320"/>
            <a:ext cx="822960" cy="822960"/>
          </a:xfrm>
          <a:prstGeom prst="ellipse">
            <a:avLst/>
          </a:prstGeom>
          <a:solidFill>
            <a:srgbClr val="0077B6"/>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1036930" y="5060290"/>
            <a:ext cx="395021" cy="395021"/>
          </a:xfrm>
          <a:prstGeom prst="rect">
            <a:avLst/>
          </a:prstGeom>
        </p:spPr>
      </p:pic>
      <p:sp>
        <p:nvSpPr>
          <p:cNvPr id="18" name="Text 15"/>
          <p:cNvSpPr txBox="1"/>
          <p:nvPr/>
        </p:nvSpPr>
        <p:spPr>
          <a:xfrm>
            <a:off x="1828800" y="4800600"/>
            <a:ext cx="3931920" cy="4572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CIS-CAT Lite</a:t>
            </a:r>
            <a:endParaRPr lang="en-US" sz="1800" dirty="0"/>
          </a:p>
        </p:txBody>
      </p:sp>
      <p:sp>
        <p:nvSpPr>
          <p:cNvPr id="19" name="Text 16"/>
          <p:cNvSpPr txBox="1"/>
          <p:nvPr/>
        </p:nvSpPr>
        <p:spPr>
          <a:xfrm>
            <a:off x="1828800" y="5230368"/>
            <a:ext cx="3977640" cy="640080"/>
          </a:xfrm>
          <a:prstGeom prst="rect">
            <a:avLst/>
          </a:prstGeom>
          <a:noFill/>
          <a:ln/>
        </p:spPr>
        <p:txBody>
          <a:bodyPr wrap="square" rtlCol="0" anchor="ctr"/>
          <a:lstStyle/>
          <a:p>
            <a:pPr marL="0" indent="0">
              <a:buNone/>
            </a:pPr>
            <a:r>
              <a:rPr lang="en-US" sz="1250" dirty="0">
                <a:solidFill>
                  <a:srgbClr val="90E0EF"/>
                </a:solidFill>
                <a:latin typeface="Calibri" pitchFamily="34" charset="0"/>
                <a:ea typeface="Calibri" pitchFamily="34" charset="-122"/>
                <a:cs typeface="Calibri" pitchFamily="34" charset="-120"/>
              </a:rPr>
              <a:t>Audita Windows 10/11 contra el CIS Benchmark. Reporte HTML.</a:t>
            </a:r>
            <a:endParaRPr lang="en-US" sz="1250" dirty="0"/>
          </a:p>
        </p:txBody>
      </p:sp>
      <p:sp>
        <p:nvSpPr>
          <p:cNvPr id="20" name="Shape 17"/>
          <p:cNvSpPr/>
          <p:nvPr/>
        </p:nvSpPr>
        <p:spPr>
          <a:xfrm>
            <a:off x="6263640" y="4572000"/>
            <a:ext cx="5349240" cy="1371600"/>
          </a:xfrm>
          <a:prstGeom prst="roundRect">
            <a:avLst>
              <a:gd name="adj" fmla="val 6667"/>
            </a:avLst>
          </a:prstGeom>
          <a:solidFill>
            <a:srgbClr val="0A1628"/>
          </a:solidFill>
          <a:ln/>
        </p:spPr>
        <p:txBody>
          <a:bodyPr/>
          <a:lstStyle/>
          <a:p>
            <a:endParaRPr lang="en-US"/>
          </a:p>
        </p:txBody>
      </p:sp>
      <p:sp>
        <p:nvSpPr>
          <p:cNvPr id="21" name="Shape 18"/>
          <p:cNvSpPr/>
          <p:nvPr/>
        </p:nvSpPr>
        <p:spPr>
          <a:xfrm>
            <a:off x="6537960" y="4846320"/>
            <a:ext cx="822960" cy="822960"/>
          </a:xfrm>
          <a:prstGeom prst="ellipse">
            <a:avLst/>
          </a:prstGeom>
          <a:solidFill>
            <a:srgbClr val="E95420"/>
          </a:solidFill>
          <a:ln/>
        </p:spPr>
        <p:txBody>
          <a:bodyPr/>
          <a:lstStyle/>
          <a:p>
            <a:endParaRPr lang="en-US"/>
          </a:p>
        </p:txBody>
      </p:sp>
      <p:pic>
        <p:nvPicPr>
          <p:cNvPr id="22" name="Image 1" descr="preencoded.png"/>
          <p:cNvPicPr>
            <a:picLocks noChangeAspect="1"/>
          </p:cNvPicPr>
          <p:nvPr/>
        </p:nvPicPr>
        <p:blipFill>
          <a:blip r:embed="rId4"/>
          <a:stretch>
            <a:fillRect/>
          </a:stretch>
        </p:blipFill>
        <p:spPr>
          <a:xfrm>
            <a:off x="6751930" y="5060290"/>
            <a:ext cx="395021" cy="395021"/>
          </a:xfrm>
          <a:prstGeom prst="rect">
            <a:avLst/>
          </a:prstGeom>
        </p:spPr>
      </p:pic>
      <p:sp>
        <p:nvSpPr>
          <p:cNvPr id="23" name="Text 19"/>
          <p:cNvSpPr txBox="1"/>
          <p:nvPr/>
        </p:nvSpPr>
        <p:spPr>
          <a:xfrm>
            <a:off x="7543800" y="4800600"/>
            <a:ext cx="3931920" cy="4572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OpenSCAP</a:t>
            </a:r>
            <a:endParaRPr lang="en-US" sz="1800" dirty="0"/>
          </a:p>
        </p:txBody>
      </p:sp>
      <p:sp>
        <p:nvSpPr>
          <p:cNvPr id="24" name="Text 20"/>
          <p:cNvSpPr txBox="1"/>
          <p:nvPr/>
        </p:nvSpPr>
        <p:spPr>
          <a:xfrm>
            <a:off x="7543800" y="5230368"/>
            <a:ext cx="3977640" cy="640080"/>
          </a:xfrm>
          <a:prstGeom prst="rect">
            <a:avLst/>
          </a:prstGeom>
          <a:noFill/>
          <a:ln/>
        </p:spPr>
        <p:txBody>
          <a:bodyPr wrap="square" rtlCol="0" anchor="ctr"/>
          <a:lstStyle/>
          <a:p>
            <a:pPr marL="0" indent="0">
              <a:buNone/>
            </a:pPr>
            <a:r>
              <a:rPr lang="en-US" sz="1250" dirty="0">
                <a:solidFill>
                  <a:srgbClr val="90E0EF"/>
                </a:solidFill>
                <a:latin typeface="Calibri" pitchFamily="34" charset="0"/>
                <a:ea typeface="Calibri" pitchFamily="34" charset="-122"/>
                <a:cs typeface="Calibri" pitchFamily="34" charset="-120"/>
              </a:rPr>
              <a:t>Audita Ubuntu con SCAP Security Guide. Reporte HTML + remediación.</a:t>
            </a:r>
            <a:endParaRPr lang="en-US" sz="125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263F"/>
          </a:solidFill>
          <a:ln/>
        </p:spPr>
        <p:txBody>
          <a:bodyPr/>
          <a:lstStyle/>
          <a:p>
            <a:endParaRPr lang="en-US"/>
          </a:p>
        </p:txBody>
      </p:sp>
      <p:sp>
        <p:nvSpPr>
          <p:cNvPr id="3" name="Text 1"/>
          <p:cNvSpPr txBox="1"/>
          <p:nvPr/>
        </p:nvSpPr>
        <p:spPr>
          <a:xfrm>
            <a:off x="640080" y="1554480"/>
            <a:ext cx="2743200" cy="1463040"/>
          </a:xfrm>
          <a:prstGeom prst="rect">
            <a:avLst/>
          </a:prstGeom>
          <a:noFill/>
          <a:ln/>
        </p:spPr>
        <p:txBody>
          <a:bodyPr wrap="square" rtlCol="0" anchor="ctr"/>
          <a:lstStyle/>
          <a:p>
            <a:pPr marL="0" indent="0">
              <a:buNone/>
            </a:pPr>
            <a:r>
              <a:rPr lang="en-US" sz="9000" b="1" dirty="0">
                <a:solidFill>
                  <a:srgbClr val="1C3354"/>
                </a:solidFill>
                <a:latin typeface="Calibri" pitchFamily="34" charset="0"/>
                <a:ea typeface="Calibri" pitchFamily="34" charset="-122"/>
                <a:cs typeface="Calibri" pitchFamily="34" charset="-120"/>
              </a:rPr>
              <a:t>04</a:t>
            </a:r>
            <a:endParaRPr lang="en-US" sz="9000" dirty="0"/>
          </a:p>
        </p:txBody>
      </p:sp>
      <p:sp>
        <p:nvSpPr>
          <p:cNvPr id="4" name="Shape 2"/>
          <p:cNvSpPr/>
          <p:nvPr/>
        </p:nvSpPr>
        <p:spPr>
          <a:xfrm>
            <a:off x="731520" y="3200400"/>
            <a:ext cx="2011680" cy="0"/>
          </a:xfrm>
          <a:prstGeom prst="line">
            <a:avLst/>
          </a:prstGeom>
          <a:noFill/>
          <a:ln w="38100">
            <a:solidFill>
              <a:srgbClr val="00B4D8"/>
            </a:solidFill>
            <a:prstDash val="solid"/>
          </a:ln>
        </p:spPr>
        <p:txBody>
          <a:bodyPr/>
          <a:lstStyle/>
          <a:p>
            <a:endParaRPr lang="en-US"/>
          </a:p>
        </p:txBody>
      </p:sp>
      <p:sp>
        <p:nvSpPr>
          <p:cNvPr id="5" name="Text 3"/>
          <p:cNvSpPr txBox="1"/>
          <p:nvPr/>
        </p:nvSpPr>
        <p:spPr>
          <a:xfrm>
            <a:off x="685800" y="3383280"/>
            <a:ext cx="9144000" cy="10058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Antes de la próxima clase</a:t>
            </a:r>
            <a:endParaRPr lang="en-US" sz="4000" dirty="0"/>
          </a:p>
        </p:txBody>
      </p:sp>
      <p:sp>
        <p:nvSpPr>
          <p:cNvPr id="6" name="Text 4"/>
          <p:cNvSpPr txBox="1"/>
          <p:nvPr/>
        </p:nvSpPr>
        <p:spPr>
          <a:xfrm>
            <a:off x="731520" y="4480560"/>
            <a:ext cx="8686800" cy="640080"/>
          </a:xfrm>
          <a:prstGeom prst="rect">
            <a:avLst/>
          </a:prstGeom>
          <a:noFill/>
          <a:ln/>
        </p:spPr>
        <p:txBody>
          <a:bodyPr wrap="square" rtlCol="0" anchor="ctr"/>
          <a:lstStyle/>
          <a:p>
            <a:pPr marL="0" indent="0">
              <a:buNone/>
            </a:pPr>
            <a:r>
              <a:rPr lang="en-US" sz="1600" dirty="0">
                <a:solidFill>
                  <a:srgbClr val="90E0EF"/>
                </a:solidFill>
                <a:latin typeface="Calibri" pitchFamily="34" charset="0"/>
                <a:ea typeface="Calibri" pitchFamily="34" charset="-122"/>
                <a:cs typeface="Calibri" pitchFamily="34" charset="-120"/>
              </a:rPr>
              <a:t>Monta tu laboratorio: la próxima sesión medimos y arreglamos TU máquina.</a:t>
            </a:r>
            <a:endParaRPr lang="en-US" sz="1600" dirty="0"/>
          </a:p>
        </p:txBody>
      </p:sp>
      <p:sp>
        <p:nvSpPr>
          <p:cNvPr id="7" name="Shape 5"/>
          <p:cNvSpPr/>
          <p:nvPr/>
        </p:nvSpPr>
        <p:spPr>
          <a:xfrm>
            <a:off x="10058400" y="3931920"/>
            <a:ext cx="1371600" cy="1371600"/>
          </a:xfrm>
          <a:prstGeom prst="ellipse">
            <a:avLst/>
          </a:prstGeom>
          <a:solidFill>
            <a:srgbClr val="00B4D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15016" y="4288536"/>
            <a:ext cx="658368" cy="65836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TU TAREA PARA LA CLASE 02</a:t>
            </a:r>
            <a:endParaRPr lang="en-US" sz="1200" dirty="0"/>
          </a:p>
        </p:txBody>
      </p:sp>
      <p:sp>
        <p:nvSpPr>
          <p:cNvPr id="3" name="Text 1"/>
          <p:cNvSpPr txBox="1"/>
          <p:nvPr/>
        </p:nvSpPr>
        <p:spPr>
          <a:xfrm>
            <a:off x="548640" y="731520"/>
            <a:ext cx="10972800" cy="731520"/>
          </a:xfrm>
          <a:prstGeom prst="rect">
            <a:avLst/>
          </a:prstGeom>
          <a:noFill/>
          <a:ln/>
        </p:spPr>
        <p:txBody>
          <a:bodyPr wrap="square" rtlCol="0" anchor="ctr"/>
          <a:lstStyle/>
          <a:p>
            <a:pPr marL="0" indent="0">
              <a:buNone/>
            </a:pPr>
            <a:r>
              <a:rPr lang="en-US" sz="3400" b="1" dirty="0">
                <a:solidFill>
                  <a:srgbClr val="0A1628"/>
                </a:solidFill>
                <a:latin typeface="Calibri" pitchFamily="34" charset="0"/>
                <a:ea typeface="Calibri" pitchFamily="34" charset="-122"/>
                <a:cs typeface="Calibri" pitchFamily="34" charset="-120"/>
              </a:rPr>
              <a:t>Monta tu laboratorio</a:t>
            </a:r>
            <a:endParaRPr lang="en-US" sz="3400" dirty="0"/>
          </a:p>
        </p:txBody>
      </p:sp>
      <p:sp>
        <p:nvSpPr>
          <p:cNvPr id="4" name="Shape 2"/>
          <p:cNvSpPr/>
          <p:nvPr/>
        </p:nvSpPr>
        <p:spPr>
          <a:xfrm>
            <a:off x="548640" y="1828800"/>
            <a:ext cx="7772400" cy="1143000"/>
          </a:xfrm>
          <a:prstGeom prst="roundRect">
            <a:avLst>
              <a:gd name="adj" fmla="val 8000"/>
            </a:avLst>
          </a:prstGeom>
          <a:solidFill>
            <a:srgbClr val="FFFFFF"/>
          </a:solidFill>
          <a:ln w="12700">
            <a:solidFill>
              <a:srgbClr val="D8E3EC"/>
            </a:solidFill>
            <a:prstDash val="solid"/>
          </a:ln>
        </p:spPr>
        <p:txBody>
          <a:bodyPr/>
          <a:lstStyle/>
          <a:p>
            <a:endParaRPr lang="en-US"/>
          </a:p>
        </p:txBody>
      </p:sp>
      <p:sp>
        <p:nvSpPr>
          <p:cNvPr id="5" name="Shape 3"/>
          <p:cNvSpPr/>
          <p:nvPr/>
        </p:nvSpPr>
        <p:spPr>
          <a:xfrm>
            <a:off x="822960" y="2029968"/>
            <a:ext cx="749808" cy="749808"/>
          </a:xfrm>
          <a:prstGeom prst="ellipse">
            <a:avLst/>
          </a:prstGeom>
          <a:solidFill>
            <a:srgbClr val="0077B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17910" y="2224918"/>
            <a:ext cx="359908" cy="359908"/>
          </a:xfrm>
          <a:prstGeom prst="rect">
            <a:avLst/>
          </a:prstGeom>
        </p:spPr>
      </p:pic>
      <p:sp>
        <p:nvSpPr>
          <p:cNvPr id="7" name="Text 4"/>
          <p:cNvSpPr txBox="1"/>
          <p:nvPr/>
        </p:nvSpPr>
        <p:spPr>
          <a:xfrm>
            <a:off x="1783080" y="1993392"/>
            <a:ext cx="6400800" cy="45720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VM Windows 10</a:t>
            </a:r>
            <a:endParaRPr lang="en-US" sz="1800" dirty="0"/>
          </a:p>
        </p:txBody>
      </p:sp>
      <p:sp>
        <p:nvSpPr>
          <p:cNvPr id="8" name="Text 5"/>
          <p:cNvSpPr txBox="1"/>
          <p:nvPr/>
        </p:nvSpPr>
        <p:spPr>
          <a:xfrm>
            <a:off x="1783080" y="2423160"/>
            <a:ext cx="6400800" cy="457200"/>
          </a:xfrm>
          <a:prstGeom prst="rect">
            <a:avLst/>
          </a:prstGeom>
          <a:noFill/>
          <a:ln/>
        </p:spPr>
        <p:txBody>
          <a:bodyPr wrap="square" rtlCol="0" anchor="ctr"/>
          <a:lstStyle/>
          <a:p>
            <a:pPr marL="0" indent="0">
              <a:buNone/>
            </a:pPr>
            <a:r>
              <a:rPr lang="en-US" sz="1350" dirty="0">
                <a:solidFill>
                  <a:srgbClr val="33465A"/>
                </a:solidFill>
                <a:latin typeface="Calibri" pitchFamily="34" charset="0"/>
                <a:ea typeface="Calibri" pitchFamily="34" charset="-122"/>
                <a:cs typeface="Calibri" pitchFamily="34" charset="-120"/>
              </a:rPr>
              <a:t>Crea una VM con la ISO de evaluación de Windows 10 (te la paso).</a:t>
            </a:r>
            <a:endParaRPr lang="en-US" sz="1350" dirty="0"/>
          </a:p>
        </p:txBody>
      </p:sp>
      <p:sp>
        <p:nvSpPr>
          <p:cNvPr id="9" name="Shape 6"/>
          <p:cNvSpPr/>
          <p:nvPr/>
        </p:nvSpPr>
        <p:spPr>
          <a:xfrm>
            <a:off x="548640" y="3154680"/>
            <a:ext cx="7772400" cy="1143000"/>
          </a:xfrm>
          <a:prstGeom prst="roundRect">
            <a:avLst>
              <a:gd name="adj" fmla="val 8000"/>
            </a:avLst>
          </a:prstGeom>
          <a:solidFill>
            <a:srgbClr val="FFFFFF"/>
          </a:solidFill>
          <a:ln w="12700">
            <a:solidFill>
              <a:srgbClr val="D8E3EC"/>
            </a:solidFill>
            <a:prstDash val="solid"/>
          </a:ln>
        </p:spPr>
        <p:txBody>
          <a:bodyPr/>
          <a:lstStyle/>
          <a:p>
            <a:endParaRPr lang="en-US"/>
          </a:p>
        </p:txBody>
      </p:sp>
      <p:sp>
        <p:nvSpPr>
          <p:cNvPr id="10" name="Shape 7"/>
          <p:cNvSpPr/>
          <p:nvPr/>
        </p:nvSpPr>
        <p:spPr>
          <a:xfrm>
            <a:off x="822960" y="3355848"/>
            <a:ext cx="749808" cy="749808"/>
          </a:xfrm>
          <a:prstGeom prst="ellipse">
            <a:avLst/>
          </a:prstGeom>
          <a:solidFill>
            <a:srgbClr val="E95420"/>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017910" y="3550798"/>
            <a:ext cx="359908" cy="359908"/>
          </a:xfrm>
          <a:prstGeom prst="rect">
            <a:avLst/>
          </a:prstGeom>
        </p:spPr>
      </p:pic>
      <p:sp>
        <p:nvSpPr>
          <p:cNvPr id="12" name="Text 8"/>
          <p:cNvSpPr txBox="1"/>
          <p:nvPr/>
        </p:nvSpPr>
        <p:spPr>
          <a:xfrm>
            <a:off x="1783080" y="3319272"/>
            <a:ext cx="6400800" cy="45720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VM Ubuntu Server 22.04</a:t>
            </a:r>
            <a:endParaRPr lang="en-US" sz="1800" dirty="0"/>
          </a:p>
        </p:txBody>
      </p:sp>
      <p:sp>
        <p:nvSpPr>
          <p:cNvPr id="13" name="Text 9"/>
          <p:cNvSpPr txBox="1"/>
          <p:nvPr/>
        </p:nvSpPr>
        <p:spPr>
          <a:xfrm>
            <a:off x="1783080" y="3749040"/>
            <a:ext cx="6400800" cy="457200"/>
          </a:xfrm>
          <a:prstGeom prst="rect">
            <a:avLst/>
          </a:prstGeom>
          <a:noFill/>
          <a:ln/>
        </p:spPr>
        <p:txBody>
          <a:bodyPr wrap="square" rtlCol="0" anchor="ctr"/>
          <a:lstStyle/>
          <a:p>
            <a:pPr marL="0" indent="0">
              <a:buNone/>
            </a:pPr>
            <a:r>
              <a:rPr lang="en-US" sz="1350" dirty="0">
                <a:solidFill>
                  <a:srgbClr val="33465A"/>
                </a:solidFill>
                <a:latin typeface="Calibri" pitchFamily="34" charset="0"/>
                <a:ea typeface="Calibri" pitchFamily="34" charset="-122"/>
                <a:cs typeface="Calibri" pitchFamily="34" charset="-120"/>
              </a:rPr>
              <a:t>Crea una VM con la ISO de Ubuntu Server 22.04 (te la paso).</a:t>
            </a:r>
            <a:endParaRPr lang="en-US" sz="1350" dirty="0"/>
          </a:p>
        </p:txBody>
      </p:sp>
      <p:sp>
        <p:nvSpPr>
          <p:cNvPr id="14" name="Shape 10"/>
          <p:cNvSpPr/>
          <p:nvPr/>
        </p:nvSpPr>
        <p:spPr>
          <a:xfrm>
            <a:off x="548640" y="4480560"/>
            <a:ext cx="7772400" cy="1143000"/>
          </a:xfrm>
          <a:prstGeom prst="roundRect">
            <a:avLst>
              <a:gd name="adj" fmla="val 8000"/>
            </a:avLst>
          </a:prstGeom>
          <a:solidFill>
            <a:srgbClr val="FFFFFF"/>
          </a:solidFill>
          <a:ln w="12700">
            <a:solidFill>
              <a:srgbClr val="D8E3EC"/>
            </a:solidFill>
            <a:prstDash val="solid"/>
          </a:ln>
        </p:spPr>
        <p:txBody>
          <a:bodyPr/>
          <a:lstStyle/>
          <a:p>
            <a:endParaRPr lang="en-US"/>
          </a:p>
        </p:txBody>
      </p:sp>
      <p:sp>
        <p:nvSpPr>
          <p:cNvPr id="15" name="Shape 11"/>
          <p:cNvSpPr/>
          <p:nvPr/>
        </p:nvSpPr>
        <p:spPr>
          <a:xfrm>
            <a:off x="822960" y="4681728"/>
            <a:ext cx="749808" cy="749808"/>
          </a:xfrm>
          <a:prstGeom prst="ellipse">
            <a:avLst/>
          </a:prstGeom>
          <a:solidFill>
            <a:srgbClr val="2ECC7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7910" y="4876678"/>
            <a:ext cx="359908" cy="359908"/>
          </a:xfrm>
          <a:prstGeom prst="rect">
            <a:avLst/>
          </a:prstGeom>
        </p:spPr>
      </p:pic>
      <p:sp>
        <p:nvSpPr>
          <p:cNvPr id="17" name="Text 12"/>
          <p:cNvSpPr txBox="1"/>
          <p:nvPr/>
        </p:nvSpPr>
        <p:spPr>
          <a:xfrm>
            <a:off x="1783080" y="4645152"/>
            <a:ext cx="6400800" cy="457200"/>
          </a:xfrm>
          <a:prstGeom prst="rect">
            <a:avLst/>
          </a:prstGeom>
          <a:noFill/>
          <a:ln/>
        </p:spPr>
        <p:txBody>
          <a:bodyPr wrap="square"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Snapshot “limpia”</a:t>
            </a:r>
            <a:endParaRPr lang="en-US" sz="1800" dirty="0"/>
          </a:p>
        </p:txBody>
      </p:sp>
      <p:sp>
        <p:nvSpPr>
          <p:cNvPr id="18" name="Text 13"/>
          <p:cNvSpPr txBox="1"/>
          <p:nvPr/>
        </p:nvSpPr>
        <p:spPr>
          <a:xfrm>
            <a:off x="1783080" y="5074920"/>
            <a:ext cx="6400800" cy="457200"/>
          </a:xfrm>
          <a:prstGeom prst="rect">
            <a:avLst/>
          </a:prstGeom>
          <a:noFill/>
          <a:ln/>
        </p:spPr>
        <p:txBody>
          <a:bodyPr wrap="square" rtlCol="0" anchor="ctr"/>
          <a:lstStyle/>
          <a:p>
            <a:pPr marL="0" indent="0">
              <a:buNone/>
            </a:pPr>
            <a:r>
              <a:rPr lang="en-US" sz="1350" dirty="0">
                <a:solidFill>
                  <a:srgbClr val="33465A"/>
                </a:solidFill>
                <a:latin typeface="Calibri" pitchFamily="34" charset="0"/>
                <a:ea typeface="Calibri" pitchFamily="34" charset="-122"/>
                <a:cs typeface="Calibri" pitchFamily="34" charset="-120"/>
              </a:rPr>
              <a:t>Toma un snapshot de cada VM recién instalada y no la toques más.</a:t>
            </a:r>
            <a:endParaRPr lang="en-US" sz="1350" dirty="0"/>
          </a:p>
        </p:txBody>
      </p:sp>
      <p:sp>
        <p:nvSpPr>
          <p:cNvPr id="19" name="Shape 14"/>
          <p:cNvSpPr/>
          <p:nvPr/>
        </p:nvSpPr>
        <p:spPr>
          <a:xfrm>
            <a:off x="8549640" y="1828800"/>
            <a:ext cx="3063240" cy="4023360"/>
          </a:xfrm>
          <a:prstGeom prst="roundRect">
            <a:avLst>
              <a:gd name="adj" fmla="val 3582"/>
            </a:avLst>
          </a:prstGeom>
          <a:solidFill>
            <a:srgbClr val="0A1628"/>
          </a:solidFill>
          <a:ln/>
        </p:spPr>
        <p:txBody>
          <a:bodyPr/>
          <a:lstStyle/>
          <a:p>
            <a:endParaRPr lang="en-US"/>
          </a:p>
        </p:txBody>
      </p:sp>
      <p:sp>
        <p:nvSpPr>
          <p:cNvPr id="20" name="Shape 15"/>
          <p:cNvSpPr/>
          <p:nvPr/>
        </p:nvSpPr>
        <p:spPr>
          <a:xfrm>
            <a:off x="8869680" y="2103120"/>
            <a:ext cx="777240" cy="777240"/>
          </a:xfrm>
          <a:prstGeom prst="ellipse">
            <a:avLst/>
          </a:prstGeom>
          <a:solidFill>
            <a:srgbClr val="00B4D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071762" y="2305202"/>
            <a:ext cx="373075" cy="373075"/>
          </a:xfrm>
          <a:prstGeom prst="rect">
            <a:avLst/>
          </a:prstGeom>
        </p:spPr>
      </p:pic>
      <p:sp>
        <p:nvSpPr>
          <p:cNvPr id="22" name="Text 16"/>
          <p:cNvSpPr txBox="1"/>
          <p:nvPr/>
        </p:nvSpPr>
        <p:spPr>
          <a:xfrm>
            <a:off x="8869680" y="2971800"/>
            <a:ext cx="2468880" cy="4572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Entregable</a:t>
            </a:r>
            <a:endParaRPr lang="en-US" sz="1900" dirty="0"/>
          </a:p>
        </p:txBody>
      </p:sp>
      <p:sp>
        <p:nvSpPr>
          <p:cNvPr id="23" name="Text 17"/>
          <p:cNvSpPr txBox="1"/>
          <p:nvPr/>
        </p:nvSpPr>
        <p:spPr>
          <a:xfrm>
            <a:off x="8869680" y="3474720"/>
            <a:ext cx="2514600" cy="1371600"/>
          </a:xfrm>
          <a:prstGeom prst="rect">
            <a:avLst/>
          </a:prstGeom>
          <a:noFill/>
          <a:ln/>
        </p:spPr>
        <p:txBody>
          <a:bodyPr wrap="square" rtlCol="0" anchor="ctr"/>
          <a:lstStyle/>
          <a:p>
            <a:pPr marL="0" indent="0">
              <a:lnSpc>
                <a:spcPct val="105000"/>
              </a:lnSpc>
              <a:buNone/>
            </a:pPr>
            <a:r>
              <a:rPr lang="en-US" sz="1400" dirty="0">
                <a:solidFill>
                  <a:srgbClr val="90E0EF"/>
                </a:solidFill>
                <a:latin typeface="Calibri" pitchFamily="34" charset="0"/>
                <a:ea typeface="Calibri" pitchFamily="34" charset="-122"/>
                <a:cs typeface="Calibri" pitchFamily="34" charset="-120"/>
              </a:rPr>
              <a:t>Una captura de tus dos VMs corriendo, subida al repo del curso vía Pull Request.</a:t>
            </a:r>
            <a:endParaRPr lang="en-US" sz="1400" dirty="0"/>
          </a:p>
        </p:txBody>
      </p:sp>
      <p:sp>
        <p:nvSpPr>
          <p:cNvPr id="24" name="Text 18"/>
          <p:cNvSpPr txBox="1"/>
          <p:nvPr/>
        </p:nvSpPr>
        <p:spPr>
          <a:xfrm>
            <a:off x="8869680" y="4937760"/>
            <a:ext cx="2514600" cy="82296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Guía de montaje paso a paso en el README de la clase.</a:t>
            </a:r>
            <a:endParaRPr lang="en-US" sz="1200" dirty="0"/>
          </a:p>
        </p:txBody>
      </p:sp>
      <p:sp>
        <p:nvSpPr>
          <p:cNvPr id="25" name="Slide Number Placeholder 0"/>
          <p:cNvSpPr>
            <a:spLocks noGrp="1"/>
          </p:cNvSpPr>
          <p:nvPr>
            <p:ph type="sldNum" sz="quarter" idx="4294967295"/>
          </p:nvPr>
        </p:nvSpPr>
        <p:spPr>
          <a:xfrm>
            <a:off x="94183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748A"/>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2286000" y="1828800"/>
            <a:ext cx="6858000" cy="6858000"/>
          </a:xfrm>
          <a:prstGeom prst="ellipse">
            <a:avLst/>
          </a:prstGeom>
          <a:solidFill>
            <a:srgbClr val="14263F"/>
          </a:solidFill>
          <a:ln/>
        </p:spPr>
        <p:txBody>
          <a:bodyPr/>
          <a:lstStyle/>
          <a:p>
            <a:endParaRPr lang="en-US"/>
          </a:p>
        </p:txBody>
      </p:sp>
      <p:sp>
        <p:nvSpPr>
          <p:cNvPr id="3" name="Shape 1"/>
          <p:cNvSpPr/>
          <p:nvPr/>
        </p:nvSpPr>
        <p:spPr>
          <a:xfrm>
            <a:off x="640080" y="548640"/>
            <a:ext cx="128016" cy="310896"/>
          </a:xfrm>
          <a:prstGeom prst="rect">
            <a:avLst/>
          </a:prstGeom>
          <a:solidFill>
            <a:srgbClr val="00B4D8"/>
          </a:solidFill>
          <a:ln/>
        </p:spPr>
        <p:txBody>
          <a:bodyPr/>
          <a:lstStyle/>
          <a:p>
            <a:endParaRPr lang="en-US"/>
          </a:p>
        </p:txBody>
      </p:sp>
      <p:sp>
        <p:nvSpPr>
          <p:cNvPr id="4" name="Text 2"/>
          <p:cNvSpPr txBox="1"/>
          <p:nvPr/>
        </p:nvSpPr>
        <p:spPr>
          <a:xfrm>
            <a:off x="841248" y="530352"/>
            <a:ext cx="3657600" cy="36576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TECH_SENATI</a:t>
            </a:r>
            <a:endParaRPr lang="en-US" sz="1300" dirty="0"/>
          </a:p>
        </p:txBody>
      </p:sp>
      <p:sp>
        <p:nvSpPr>
          <p:cNvPr id="5" name="Text 3"/>
          <p:cNvSpPr txBox="1"/>
          <p:nvPr/>
        </p:nvSpPr>
        <p:spPr>
          <a:xfrm>
            <a:off x="640080" y="1554480"/>
            <a:ext cx="7315200" cy="27432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CIERRE DE LA CLASE</a:t>
            </a:r>
            <a:endParaRPr lang="en-US" sz="1200" dirty="0"/>
          </a:p>
        </p:txBody>
      </p:sp>
      <p:sp>
        <p:nvSpPr>
          <p:cNvPr id="6" name="Text 4"/>
          <p:cNvSpPr txBox="1"/>
          <p:nvPr/>
        </p:nvSpPr>
        <p:spPr>
          <a:xfrm>
            <a:off x="640080" y="1920240"/>
            <a:ext cx="10972800" cy="82296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Lo que te llevas hoy</a:t>
            </a:r>
            <a:endParaRPr lang="en-US" sz="3800" dirty="0"/>
          </a:p>
        </p:txBody>
      </p:sp>
      <p:sp>
        <p:nvSpPr>
          <p:cNvPr id="7" name="Shape 5"/>
          <p:cNvSpPr/>
          <p:nvPr/>
        </p:nvSpPr>
        <p:spPr>
          <a:xfrm>
            <a:off x="685800" y="2953512"/>
            <a:ext cx="292608" cy="292608"/>
          </a:xfrm>
          <a:prstGeom prst="ellipse">
            <a:avLst/>
          </a:prstGeom>
          <a:solidFill>
            <a:srgbClr val="00B4D8"/>
          </a:solidFill>
          <a:ln/>
        </p:spPr>
        <p:txBody>
          <a:bodyPr/>
          <a:lstStyle/>
          <a:p>
            <a:endParaRPr lang="en-US"/>
          </a:p>
        </p:txBody>
      </p:sp>
      <p:sp>
        <p:nvSpPr>
          <p:cNvPr id="8" name="Text 6"/>
          <p:cNvSpPr txBox="1"/>
          <p:nvPr/>
        </p:nvSpPr>
        <p:spPr>
          <a:xfrm>
            <a:off x="685800" y="2953512"/>
            <a:ext cx="292608" cy="29260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143000" y="2926080"/>
            <a:ext cx="6035040" cy="457200"/>
          </a:xfrm>
          <a:prstGeom prst="rect">
            <a:avLst/>
          </a:prstGeom>
          <a:noFill/>
          <a:ln/>
        </p:spPr>
        <p:txBody>
          <a:bodyPr wrap="square" rtlCol="0" anchor="ctr"/>
          <a:lstStyle/>
          <a:p>
            <a:pPr marL="0" indent="0">
              <a:buNone/>
            </a:pPr>
            <a:r>
              <a:rPr lang="en-US" sz="1550" dirty="0">
                <a:solidFill>
                  <a:srgbClr val="FFFFFF"/>
                </a:solidFill>
                <a:latin typeface="Calibri" pitchFamily="34" charset="0"/>
                <a:ea typeface="Calibri" pitchFamily="34" charset="-122"/>
                <a:cs typeface="Calibri" pitchFamily="34" charset="-120"/>
              </a:rPr>
              <a:t>Endurecer = reducir la superficie de ataque, con método</a:t>
            </a:r>
            <a:endParaRPr lang="en-US" sz="1550" dirty="0"/>
          </a:p>
        </p:txBody>
      </p:sp>
      <p:sp>
        <p:nvSpPr>
          <p:cNvPr id="10" name="Shape 8"/>
          <p:cNvSpPr/>
          <p:nvPr/>
        </p:nvSpPr>
        <p:spPr>
          <a:xfrm>
            <a:off x="685800" y="3611880"/>
            <a:ext cx="292608" cy="292608"/>
          </a:xfrm>
          <a:prstGeom prst="ellipse">
            <a:avLst/>
          </a:prstGeom>
          <a:solidFill>
            <a:srgbClr val="00B4D8"/>
          </a:solidFill>
          <a:ln/>
        </p:spPr>
        <p:txBody>
          <a:bodyPr/>
          <a:lstStyle/>
          <a:p>
            <a:endParaRPr lang="en-US"/>
          </a:p>
        </p:txBody>
      </p:sp>
      <p:sp>
        <p:nvSpPr>
          <p:cNvPr id="11" name="Text 9"/>
          <p:cNvSpPr txBox="1"/>
          <p:nvPr/>
        </p:nvSpPr>
        <p:spPr>
          <a:xfrm>
            <a:off x="685800" y="3611880"/>
            <a:ext cx="292608" cy="29260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1143000" y="3584448"/>
            <a:ext cx="6035040" cy="457200"/>
          </a:xfrm>
          <a:prstGeom prst="rect">
            <a:avLst/>
          </a:prstGeom>
          <a:noFill/>
          <a:ln/>
        </p:spPr>
        <p:txBody>
          <a:bodyPr wrap="square" rtlCol="0" anchor="ctr"/>
          <a:lstStyle/>
          <a:p>
            <a:pPr marL="0" indent="0">
              <a:buNone/>
            </a:pPr>
            <a:r>
              <a:rPr lang="en-US" sz="1550" dirty="0">
                <a:solidFill>
                  <a:srgbClr val="FFFFFF"/>
                </a:solidFill>
                <a:latin typeface="Calibri" pitchFamily="34" charset="0"/>
                <a:ea typeface="Calibri" pitchFamily="34" charset="-122"/>
                <a:cs typeface="Calibri" pitchFamily="34" charset="-120"/>
              </a:rPr>
              <a:t>DiD y Zero Trust como marcos de pensamiento</a:t>
            </a:r>
            <a:endParaRPr lang="en-US" sz="1550" dirty="0"/>
          </a:p>
        </p:txBody>
      </p:sp>
      <p:sp>
        <p:nvSpPr>
          <p:cNvPr id="13" name="Shape 11"/>
          <p:cNvSpPr/>
          <p:nvPr/>
        </p:nvSpPr>
        <p:spPr>
          <a:xfrm>
            <a:off x="685800" y="4270248"/>
            <a:ext cx="292608" cy="292608"/>
          </a:xfrm>
          <a:prstGeom prst="ellipse">
            <a:avLst/>
          </a:prstGeom>
          <a:solidFill>
            <a:srgbClr val="00B4D8"/>
          </a:solidFill>
          <a:ln/>
        </p:spPr>
        <p:txBody>
          <a:bodyPr/>
          <a:lstStyle/>
          <a:p>
            <a:endParaRPr lang="en-US"/>
          </a:p>
        </p:txBody>
      </p:sp>
      <p:sp>
        <p:nvSpPr>
          <p:cNvPr id="14" name="Text 12"/>
          <p:cNvSpPr txBox="1"/>
          <p:nvPr/>
        </p:nvSpPr>
        <p:spPr>
          <a:xfrm>
            <a:off x="685800" y="4270248"/>
            <a:ext cx="292608" cy="29260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t>
            </a:r>
            <a:endParaRPr lang="en-US" sz="1300" dirty="0"/>
          </a:p>
        </p:txBody>
      </p:sp>
      <p:sp>
        <p:nvSpPr>
          <p:cNvPr id="15" name="Text 13"/>
          <p:cNvSpPr txBox="1"/>
          <p:nvPr/>
        </p:nvSpPr>
        <p:spPr>
          <a:xfrm>
            <a:off x="1143000" y="4242816"/>
            <a:ext cx="6035040" cy="457200"/>
          </a:xfrm>
          <a:prstGeom prst="rect">
            <a:avLst/>
          </a:prstGeom>
          <a:noFill/>
          <a:ln/>
        </p:spPr>
        <p:txBody>
          <a:bodyPr wrap="square" rtlCol="0" anchor="ctr"/>
          <a:lstStyle/>
          <a:p>
            <a:pPr marL="0" indent="0">
              <a:buNone/>
            </a:pPr>
            <a:r>
              <a:rPr lang="en-US" sz="1550" dirty="0">
                <a:solidFill>
                  <a:srgbClr val="FFFFFF"/>
                </a:solidFill>
                <a:latin typeface="Calibri" pitchFamily="34" charset="0"/>
                <a:ea typeface="Calibri" pitchFamily="34" charset="-122"/>
                <a:cs typeface="Calibri" pitchFamily="34" charset="-120"/>
              </a:rPr>
              <a:t>CIS es el “cómo” técnico bajo el paraguas de ISO/NIST</a:t>
            </a:r>
            <a:endParaRPr lang="en-US" sz="1550" dirty="0"/>
          </a:p>
        </p:txBody>
      </p:sp>
      <p:sp>
        <p:nvSpPr>
          <p:cNvPr id="16" name="Shape 14"/>
          <p:cNvSpPr/>
          <p:nvPr/>
        </p:nvSpPr>
        <p:spPr>
          <a:xfrm>
            <a:off x="685800" y="4928616"/>
            <a:ext cx="292608" cy="292608"/>
          </a:xfrm>
          <a:prstGeom prst="ellipse">
            <a:avLst/>
          </a:prstGeom>
          <a:solidFill>
            <a:srgbClr val="00B4D8"/>
          </a:solidFill>
          <a:ln/>
        </p:spPr>
        <p:txBody>
          <a:bodyPr/>
          <a:lstStyle/>
          <a:p>
            <a:endParaRPr lang="en-US"/>
          </a:p>
        </p:txBody>
      </p:sp>
      <p:sp>
        <p:nvSpPr>
          <p:cNvPr id="17" name="Text 15"/>
          <p:cNvSpPr txBox="1"/>
          <p:nvPr/>
        </p:nvSpPr>
        <p:spPr>
          <a:xfrm>
            <a:off x="685800" y="4928616"/>
            <a:ext cx="292608" cy="29260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1143000" y="4901184"/>
            <a:ext cx="6035040" cy="457200"/>
          </a:xfrm>
          <a:prstGeom prst="rect">
            <a:avLst/>
          </a:prstGeom>
          <a:noFill/>
          <a:ln/>
        </p:spPr>
        <p:txBody>
          <a:bodyPr wrap="square" rtlCol="0" anchor="ctr"/>
          <a:lstStyle/>
          <a:p>
            <a:pPr marL="0" indent="0">
              <a:buNone/>
            </a:pPr>
            <a:r>
              <a:rPr lang="en-US" sz="1550" dirty="0">
                <a:solidFill>
                  <a:srgbClr val="FFFFFF"/>
                </a:solidFill>
                <a:latin typeface="Calibri" pitchFamily="34" charset="0"/>
                <a:ea typeface="Calibri" pitchFamily="34" charset="-122"/>
                <a:cs typeface="Calibri" pitchFamily="34" charset="-120"/>
              </a:rPr>
              <a:t>El método para medir: lo aplicarás la próxima clase</a:t>
            </a:r>
            <a:endParaRPr lang="en-US" sz="1550" dirty="0"/>
          </a:p>
        </p:txBody>
      </p:sp>
      <p:sp>
        <p:nvSpPr>
          <p:cNvPr id="19" name="Shape 17"/>
          <p:cNvSpPr/>
          <p:nvPr/>
        </p:nvSpPr>
        <p:spPr>
          <a:xfrm>
            <a:off x="7589520" y="2834640"/>
            <a:ext cx="3931920" cy="2743200"/>
          </a:xfrm>
          <a:prstGeom prst="roundRect">
            <a:avLst>
              <a:gd name="adj" fmla="val 4000"/>
            </a:avLst>
          </a:prstGeom>
          <a:solidFill>
            <a:srgbClr val="00B4D8"/>
          </a:solidFill>
          <a:ln/>
        </p:spPr>
        <p:txBody>
          <a:bodyPr/>
          <a:lstStyle/>
          <a:p>
            <a:endParaRPr lang="en-US"/>
          </a:p>
        </p:txBody>
      </p:sp>
      <p:sp>
        <p:nvSpPr>
          <p:cNvPr id="20" name="Text 18"/>
          <p:cNvSpPr txBox="1"/>
          <p:nvPr/>
        </p:nvSpPr>
        <p:spPr>
          <a:xfrm>
            <a:off x="7863840" y="3063240"/>
            <a:ext cx="3383280" cy="320040"/>
          </a:xfrm>
          <a:prstGeom prst="rect">
            <a:avLst/>
          </a:prstGeom>
          <a:noFill/>
          <a:ln/>
        </p:spPr>
        <p:txBody>
          <a:bodyPr wrap="square" rtlCol="0" anchor="ctr"/>
          <a:lstStyle/>
          <a:p>
            <a:pPr marL="0" indent="0">
              <a:buNone/>
            </a:pPr>
            <a:r>
              <a:rPr lang="en-US" sz="1200" b="1" kern="0" spc="200" dirty="0">
                <a:solidFill>
                  <a:srgbClr val="0A1628"/>
                </a:solidFill>
                <a:latin typeface="Calibri" pitchFamily="34" charset="0"/>
                <a:ea typeface="Calibri" pitchFamily="34" charset="-122"/>
                <a:cs typeface="Calibri" pitchFamily="34" charset="-120"/>
              </a:rPr>
              <a:t>PRÓXIMA CLASE</a:t>
            </a:r>
            <a:endParaRPr lang="en-US" sz="1200" dirty="0"/>
          </a:p>
        </p:txBody>
      </p:sp>
      <p:sp>
        <p:nvSpPr>
          <p:cNvPr id="21" name="Text 19"/>
          <p:cNvSpPr txBox="1"/>
          <p:nvPr/>
        </p:nvSpPr>
        <p:spPr>
          <a:xfrm>
            <a:off x="7863840" y="3383280"/>
            <a:ext cx="3383280" cy="457200"/>
          </a:xfrm>
          <a:prstGeom prst="rect">
            <a:avLst/>
          </a:prstGeom>
          <a:noFill/>
          <a:ln/>
        </p:spPr>
        <p:txBody>
          <a:bodyPr wrap="square"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Clase 02</a:t>
            </a:r>
            <a:endParaRPr lang="en-US" sz="2400" dirty="0"/>
          </a:p>
        </p:txBody>
      </p:sp>
      <p:sp>
        <p:nvSpPr>
          <p:cNvPr id="22" name="Text 20"/>
          <p:cNvSpPr txBox="1"/>
          <p:nvPr/>
        </p:nvSpPr>
        <p:spPr>
          <a:xfrm>
            <a:off x="7863840" y="3886200"/>
            <a:ext cx="3383280" cy="914400"/>
          </a:xfrm>
          <a:prstGeom prst="rect">
            <a:avLst/>
          </a:prstGeom>
          <a:noFill/>
          <a:ln/>
        </p:spPr>
        <p:txBody>
          <a:bodyPr wrap="square" rtlCol="0" anchor="ctr"/>
          <a:lstStyle/>
          <a:p>
            <a:pPr marL="0" indent="0">
              <a:lnSpc>
                <a:spcPct val="100000"/>
              </a:lnSpc>
              <a:buNone/>
            </a:pPr>
            <a:r>
              <a:rPr lang="en-US" sz="1700" b="1" dirty="0">
                <a:solidFill>
                  <a:srgbClr val="0A1628"/>
                </a:solidFill>
                <a:latin typeface="Calibri" pitchFamily="34" charset="0"/>
                <a:ea typeface="Calibri" pitchFamily="34" charset="-122"/>
                <a:cs typeface="Calibri" pitchFamily="34" charset="-120"/>
              </a:rPr>
              <a:t>Seguridad en Windows</a:t>
            </a:r>
            <a:endParaRPr lang="en-US" sz="1700" dirty="0"/>
          </a:p>
          <a:p>
            <a:pPr marL="0" indent="0">
              <a:lnSpc>
                <a:spcPct val="100000"/>
              </a:lnSpc>
              <a:buNone/>
            </a:pPr>
            <a:r>
              <a:rPr lang="en-US" sz="1700" b="1" dirty="0">
                <a:solidFill>
                  <a:srgbClr val="0A1628"/>
                </a:solidFill>
                <a:latin typeface="Calibri" pitchFamily="34" charset="0"/>
                <a:ea typeface="Calibri" pitchFamily="34" charset="-122"/>
                <a:cs typeface="Calibri" pitchFamily="34" charset="-120"/>
              </a:rPr>
              <a:t>(Server + Cliente)</a:t>
            </a:r>
            <a:endParaRPr lang="en-US" sz="1700" dirty="0"/>
          </a:p>
        </p:txBody>
      </p:sp>
      <p:sp>
        <p:nvSpPr>
          <p:cNvPr id="23" name="Text 21"/>
          <p:cNvSpPr txBox="1"/>
          <p:nvPr/>
        </p:nvSpPr>
        <p:spPr>
          <a:xfrm>
            <a:off x="7863840" y="4983480"/>
            <a:ext cx="3383280" cy="457200"/>
          </a:xfrm>
          <a:prstGeom prst="rect">
            <a:avLst/>
          </a:prstGeom>
          <a:noFill/>
          <a:ln/>
        </p:spPr>
        <p:txBody>
          <a:bodyPr wrap="square" rtlCol="0" anchor="ctr"/>
          <a:lstStyle/>
          <a:p>
            <a:pPr marL="0" indent="0">
              <a:buNone/>
            </a:pPr>
            <a:r>
              <a:rPr lang="en-US" sz="1300" dirty="0">
                <a:solidFill>
                  <a:srgbClr val="0A1628"/>
                </a:solidFill>
                <a:latin typeface="Calibri" pitchFamily="34" charset="0"/>
                <a:ea typeface="Calibri" pitchFamily="34" charset="-122"/>
                <a:cs typeface="Calibri" pitchFamily="34" charset="-120"/>
              </a:rPr>
              <a:t>Martes 13 de octubre · 7:30 pm</a:t>
            </a:r>
            <a:endParaRPr lang="en-US" sz="1300" dirty="0"/>
          </a:p>
        </p:txBody>
      </p:sp>
      <p:sp>
        <p:nvSpPr>
          <p:cNvPr id="24" name="Text 22"/>
          <p:cNvSpPr txBox="1"/>
          <p:nvPr/>
        </p:nvSpPr>
        <p:spPr>
          <a:xfrm>
            <a:off x="640080" y="5806440"/>
            <a:ext cx="5486400" cy="457200"/>
          </a:xfrm>
          <a:prstGeom prst="rect">
            <a:avLst/>
          </a:prstGeom>
          <a:noFill/>
          <a:ln/>
        </p:spPr>
        <p:txBody>
          <a:bodyPr wrap="square" rtlCol="0" anchor="ctr"/>
          <a:lstStyle/>
          <a:p>
            <a:pPr marL="0" indent="0">
              <a:buNone/>
            </a:pPr>
            <a:r>
              <a:rPr lang="en-US" sz="1700" b="1" i="1" dirty="0">
                <a:solidFill>
                  <a:srgbClr val="90E0EF"/>
                </a:solidFill>
                <a:latin typeface="Calibri" pitchFamily="34" charset="0"/>
                <a:ea typeface="Calibri" pitchFamily="34" charset="-122"/>
                <a:cs typeface="Calibri" pitchFamily="34" charset="-120"/>
              </a:rPr>
              <a:t>¿Preguntas?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631C714-7712-1B48-AFB0-25D2C5C5C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887"/>
            <a:ext cx="12191998" cy="6857744"/>
          </a:xfrm>
          <a:prstGeom prst="rect">
            <a:avLst/>
          </a:prstGeom>
        </p:spPr>
      </p:pic>
      <p:sp>
        <p:nvSpPr>
          <p:cNvPr id="5" name="QuadreDeText 3">
            <a:extLst>
              <a:ext uri="{FF2B5EF4-FFF2-40B4-BE49-F238E27FC236}">
                <a16:creationId xmlns:a16="http://schemas.microsoft.com/office/drawing/2014/main" id="{EE05E2F9-668D-494E-9941-D3C62F690E5D}"/>
              </a:ext>
            </a:extLst>
          </p:cNvPr>
          <p:cNvSpPr txBox="1">
            <a:spLocks noChangeArrowheads="1"/>
          </p:cNvSpPr>
          <p:nvPr/>
        </p:nvSpPr>
        <p:spPr bwMode="auto">
          <a:xfrm>
            <a:off x="839417" y="2132856"/>
            <a:ext cx="540059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ca-ES" altLang="ca-ES" sz="6600" b="1" dirty="0">
                <a:latin typeface="Arial Black" panose="020B0A04020102020204" pitchFamily="34" charset="0"/>
              </a:rPr>
              <a:t>GRACIAS</a:t>
            </a:r>
            <a:endParaRPr lang="ca-ES" altLang="ca-ES" sz="4000" b="1" dirty="0"/>
          </a:p>
        </p:txBody>
      </p:sp>
    </p:spTree>
    <p:extLst>
      <p:ext uri="{BB962C8B-B14F-4D97-AF65-F5344CB8AC3E}">
        <p14:creationId xmlns:p14="http://schemas.microsoft.com/office/powerpoint/2010/main" val="3903296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2014</Words>
  <Application>Microsoft Office PowerPoint</Application>
  <PresentationFormat>Widescreen</PresentationFormat>
  <Paragraphs>270</Paragraphs>
  <Slides>22</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TECH SENATI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Ademir Cuadros</dc:creator>
  <cp:lastModifiedBy>Brian Dextre</cp:lastModifiedBy>
  <cp:revision>3</cp:revision>
  <dcterms:created xsi:type="dcterms:W3CDTF">2026-10-06T03:39:50Z</dcterms:created>
  <dcterms:modified xsi:type="dcterms:W3CDTF">2026-10-06T04:04:15Z</dcterms:modified>
</cp:coreProperties>
</file>